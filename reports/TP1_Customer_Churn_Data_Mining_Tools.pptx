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grupo y del tema en 30 segundos. Mensaje de entrada: buscamos identificar a los clientes con mayor riesgo de cancelar, para priorizar la retención en lugar de aplicarla sobre toda la cartera. Es un primer corte, no un producto concluido.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problema de clasificación binaria sobre clientes individuales. Antes de modelar fijamos tres criterios para juzgar si el resultado es útil: discriminación sobre la clase minoritaria, cobertura de las fugas y utilidad simulada positiva. Son metas internas nuestras, y más adelante veremos que una de ellas no se cumple.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combina variables de contrato, servicios y facturación con un objetivo claro, lo que permite recorrer el flujo completo. El desbalance de 26.5 % condiciona la evaluación: un modelo que diga siempre "no se va" acierta el 73.5 % y no sirve. Reconocer la limitación: predecimos con perfil y contrato, no con comportamiento en el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lo que los datos muestran de lo que interpretamos. Los datos muestran: 42.7 % de fuga en contratos mensuales frente a 2.8 % en bianuales, y más de la mitad de los clientes con menos de seis meses se va. Interpretamos: barrera de salida y fricción inicial. Son asociaciones, no causas. Este hallazgo no quedó como gráfico suelto: definió la regla del baseline heurístico.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hallazgos más. En fibra óptica, la fuga baja de 49.4 % a 22.6 % cuando hay soporte técnico. En pagos, el cheque electrónico más que duplica a los métodos automáticos. Insistir en la cautela: no sabemos si dar soporte reduce la fuga o si los clientes que contratan soporte ya eran más estables. Eso no puede concluirse con estos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decisión con su razón. El caso principal es TotalCharges: cruzamos los 11 registros y todos tienen antigüedad cero, por lo que el vacío tiene una explicación de negocio; por eso asignamos cero y no la mediana, que habría falseado la situación de un cliente nuevo. No hallamos duplicados ni valores extremos, de modo que no eliminamos filas. Estar listos para abrir el cuaderno 01 si el docente pide ver los registros.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Separamos los datos en tres conjuntos estratificados antes de ajustar cualquier transformación; los tres conservan cerca de 26.5 % de fuga. Validation sirve para elegir entre modelos y Test se reserva para una única evaluación final. La imputación, el escalado y la codificación viven dentro del Pipeline, de modo que sus estadísticas se aprenden solo con los datos de entrenamiento. Elegimos ColumnTransformer en lugar de un preprocesamiento manual para que el flujo sea reproducible con un solo comando.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dos familias distintas con la misma preparación: una alternativa lineal e interpretable y un ensamble de árboles. La regla, definida en el código, es elegir automáticamente por PR-AUC en Validation; bajo esa regla queda el Random Forest por una diferencia de 0.0014. Decirlo con franqueza: la regresión logística tiene mejor recall y mejor valor simulado, así que no afirmamos que el Random Forest sea superior. Es un candidato preliminar y la estabilidad de esa ventaja se revisará con validación cruzada.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Responder la pregunta del enunciado: ¿el modelo mejora frente a una solución simple? Sí. El baseline trivial acierta el 73 % sin detectar una sola fuga, y la regla heurística detecta el 44 %. El Random Forest, reentrenado con Train más Validation, detecta el 70 % con un PR-AUC de 0.67. Ser claros con lo que no se logró: la meta de recall de 0.75 no se cumple en Test. Lo reportamos como limitación y no volvemos a elegir modelo mirando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Traducimos la matriz de confusión a dinero. Con los costos supuestos, no hacer nada pierde 140 mil dólares y la regla simple todavía pierde 40 mil, porque deja pasar más de la mitad de las fugas. El modelo pasa a una utilidad simulada de 20,500 dólares. Advertencia obligatoria: los montos son supuestos nuestros y la simulación asume que todo cliente en riesgo detectado es retenido; el resultado cambia si cambian esos supuestos.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Lo que ya funciona: un flujo reproducible que supera a los baselines y deja a Test fuera de la selección. Cada pendiente tiene una actividad que lo atiende: la validación cruzada medirá si la ventaja entre modelos es estable, el ajuste de umbral atacará el recall que hoy no alcanza la meta y el análisis de sensibilidad revisará los costos supuestos. Ofrecer abrir el repositorio o los cuadernos para verificar cualquier cifra.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63A"/>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3D4C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63A"/>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580"/>
            <a:ext cx="10566400" cy="4480620"/>
          </a:xfrm>
          <a:prstGeom prst="rect">
            <a:avLst/>
          </a:prstGeom>
          <a:noFill/>
          <a:ln/>
        </p:spPr>
        <p:txBody>
          <a:bodyPr wrap="square" lIns="0" tIns="0" rIns="0" bIns="0" rtlCol="0" anchor="t"/>
          <a:lstStyle>
            <a:lvl1pPr algn="l" indent="0" marL="0">
              <a:lnSpc>
                <a:spcPct val="140000"/>
              </a:lnSpc>
              <a:buNone/>
              <a:defRPr lang="en-US" sz="1600" dirty="0">
                <a:solidFill>
                  <a:srgbClr val="3D4C5C"/>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070"/>
                </a:solidFill>
                <a:latin typeface="IBM Plex Sans" pitchFamily="34" charset="0"/>
                <a:ea typeface="IBM Plex Sans" pitchFamily="34" charset="-122"/>
                <a:cs typeface="IBM Plex Sans" pitchFamily="34" charset="-120"/>
              </a:rPr>
              <a:t>DATA MINING TOOLS · CC209 · TRABAJO PARCIAL (TP1)</a:t>
            </a:r>
            <a:endParaRPr lang="en-US" sz="1200" dirty="0"/>
          </a:p>
        </p:txBody>
      </p:sp>
      <p:sp>
        <p:nvSpPr>
          <p:cNvPr id="3" name="Text 1"/>
          <p:cNvSpPr/>
          <p:nvPr>
            <p:ph type="title"/>
          </p:nvPr>
        </p:nvSpPr>
        <p:spPr>
          <a:xfrm>
            <a:off x="812800" y="2426990"/>
            <a:ext cx="11379200" cy="807641"/>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7F5F0"/>
                </a:solidFill>
                <a:latin typeface="Domine" pitchFamily="18" charset="0"/>
                <a:ea typeface="Domine" pitchFamily="18" charset="-122"/>
                <a:cs typeface="Domine" pitchFamily="18" charset="-120"/>
              </a:rPr>
              <a:t>Predicción de fuga de clientes</a:t>
            </a:r>
            <a:endParaRPr lang="en-US" sz="5600" dirty="0"/>
          </a:p>
        </p:txBody>
      </p:sp>
      <p:sp>
        <p:nvSpPr>
          <p:cNvPr id="4" name="Text 2"/>
          <p:cNvSpPr/>
          <p:nvPr/>
        </p:nvSpPr>
        <p:spPr>
          <a:xfrm>
            <a:off x="812800" y="3412430"/>
            <a:ext cx="91567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6E2"/>
                </a:solidFill>
                <a:latin typeface="IBM Plex Sans" pitchFamily="34" charset="0"/>
                <a:ea typeface="IBM Plex Sans" pitchFamily="34" charset="-122"/>
                <a:cs typeface="IBM Plex Sans" pitchFamily="34" charset="-120"/>
              </a:rPr>
              <a:t>Identificación de clientes en riesgo de cancelar su servicio de telecomunicaciones para priorizar la retención</a:t>
            </a:r>
            <a:endParaRPr lang="en-US" sz="2000" dirty="0"/>
          </a:p>
        </p:txBody>
      </p:sp>
      <p:sp>
        <p:nvSpPr>
          <p:cNvPr id="5" name="Text 3"/>
          <p:cNvSpPr/>
          <p:nvPr/>
        </p:nvSpPr>
        <p:spPr>
          <a:xfrm>
            <a:off x="812800" y="5473700"/>
            <a:ext cx="5227597"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7F5F0"/>
                </a:solidFill>
                <a:latin typeface="IBM Plex Sans" pitchFamily="34" charset="0"/>
                <a:ea typeface="IBM Plex Sans" pitchFamily="34" charset="-122"/>
                <a:cs typeface="IBM Plex Sans" pitchFamily="34" charset="-120"/>
              </a:rPr>
              <a:t>Joaquin Basas Requena · Fabian Marcelo Rojas Cuadros</a:t>
            </a:r>
            <a:endParaRPr lang="en-US" sz="1500" dirty="0"/>
          </a:p>
          <a:p>
            <a:pPr algn="l" indent="0" marL="0">
              <a:lnSpc>
                <a:spcPts val="2250"/>
              </a:lnSpc>
              <a:buNone/>
            </a:pPr>
            <a:r>
              <a:rPr lang="en-US" sz="1500" dirty="0">
                <a:solidFill>
                  <a:srgbClr val="F7F5F0"/>
                </a:solidFill>
                <a:latin typeface="IBM Plex Sans" pitchFamily="34" charset="0"/>
                <a:ea typeface="IBM Plex Sans" pitchFamily="34" charset="-122"/>
                <a:cs typeface="IBM Plex Sans" pitchFamily="34" charset="-120"/>
              </a:rPr>
              <a:t>Cielo Luwidka Chavez Merino · Rodrigo Alonso Gamero Vera</a:t>
            </a:r>
            <a:endParaRPr lang="en-US" sz="1500" dirty="0"/>
          </a:p>
        </p:txBody>
      </p:sp>
      <p:sp>
        <p:nvSpPr>
          <p:cNvPr id="6" name="Text 4"/>
          <p:cNvSpPr/>
          <p:nvPr/>
        </p:nvSpPr>
        <p:spPr>
          <a:xfrm>
            <a:off x="8439245" y="5588000"/>
            <a:ext cx="2939955" cy="4826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C9D6E2"/>
                </a:solidFill>
                <a:latin typeface="IBM Plex Sans" pitchFamily="34" charset="0"/>
                <a:ea typeface="IBM Plex Sans" pitchFamily="34" charset="-122"/>
                <a:cs typeface="IBM Plex Sans" pitchFamily="34" charset="-120"/>
              </a:rPr>
              <a:t>Docente: Carlos Fernando Montoya Cubas</a:t>
            </a:r>
            <a:endParaRPr lang="en-US" sz="1200" dirty="0"/>
          </a:p>
          <a:p>
            <a:pPr algn="r" indent="0" marL="0">
              <a:lnSpc>
                <a:spcPts val="1800"/>
              </a:lnSpc>
              <a:buNone/>
            </a:pPr>
            <a:r>
              <a:rPr lang="en-US" sz="1200" dirty="0">
                <a:solidFill>
                  <a:srgbClr val="C9D6E2"/>
                </a:solidFill>
                <a:latin typeface="IBM Plex Sans" pitchFamily="34" charset="0"/>
                <a:ea typeface="IBM Plex Sans" pitchFamily="34" charset="-122"/>
                <a:cs typeface="IBM Plex Sans" pitchFamily="34" charset="-120"/>
              </a:rPr>
              <a:t>UPC · NRC 17496 · Ciclo 2026-20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Problema y pregunta del proyecto</a:t>
            </a:r>
            <a:endParaRPr lang="en-US" sz="3200" dirty="0"/>
          </a:p>
        </p:txBody>
      </p:sp>
      <p:sp>
        <p:nvSpPr>
          <p:cNvPr id="3" name="Text 1"/>
          <p:cNvSpPr/>
          <p:nvPr/>
        </p:nvSpPr>
        <p:spPr>
          <a:xfrm>
            <a:off x="812800" y="1513780"/>
            <a:ext cx="10883392" cy="1054100"/>
          </a:xfrm>
          <a:prstGeom prst="rect">
            <a:avLst/>
          </a:prstGeom>
          <a:noFill/>
          <a:ln/>
        </p:spPr>
        <p:txBody>
          <a:bodyPr wrap="square" lIns="0" tIns="0" rIns="0" bIns="0" rtlCol="0" anchor="t">
            <a:normAutofit/>
          </a:bodyPr>
          <a:lstStyle/>
          <a:p>
            <a:pPr algn="l" indent="0" marL="0">
              <a:lnSpc>
                <a:spcPts val="2700"/>
              </a:lnSpc>
              <a:buNone/>
            </a:pPr>
            <a:r>
              <a:rPr lang="en-US" sz="2000" i="1" dirty="0">
                <a:solidFill>
                  <a:srgbClr val="2B5C8F"/>
                </a:solidFill>
                <a:latin typeface="Domine" pitchFamily="18" charset="0"/>
                <a:ea typeface="Domine" pitchFamily="18" charset="-122"/>
                <a:cs typeface="Domine" pitchFamily="18" charset="-120"/>
              </a:rPr>
              <a:t>¿Qué clientes presentan mayor probabilidad de fuga y qué variables contractuales, de servicio y de facturación se asocian con ese riesgo, de manera que puedan priorizarse intervenciones preventivas?</a:t>
            </a:r>
            <a:endParaRPr lang="en-US" sz="2000" dirty="0"/>
          </a:p>
        </p:txBody>
      </p:sp>
      <p:sp>
        <p:nvSpPr>
          <p:cNvPr id="4" name="Text 2"/>
          <p:cNvSpPr/>
          <p:nvPr/>
        </p:nvSpPr>
        <p:spPr>
          <a:xfrm>
            <a:off x="812800" y="279648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D4C5C"/>
                </a:solidFill>
                <a:latin typeface="IBM Plex Sans" pitchFamily="34" charset="0"/>
                <a:ea typeface="IBM Plex Sans" pitchFamily="34" charset="-122"/>
                <a:cs typeface="IBM Plex Sans" pitchFamily="34" charset="-120"/>
              </a:rPr>
              <a:t>Unidad de análisis:</a:t>
            </a:r>
            <a:r>
              <a:rPr lang="en-US" sz="1500" dirty="0">
                <a:solidFill>
                  <a:srgbClr val="3D4C5C"/>
                </a:solidFill>
                <a:latin typeface="IBM Plex Sans" pitchFamily="34" charset="0"/>
                <a:ea typeface="IBM Plex Sans" pitchFamily="34" charset="-122"/>
                <a:cs typeface="IBM Plex Sans" pitchFamily="34" charset="-120"/>
              </a:rPr>
              <a:t> un cliente con contrato individual registrado en el dataset. </a:t>
            </a:r>
            <a:r>
              <a:rPr lang="en-US" sz="1500" b="1" dirty="0">
                <a:solidFill>
                  <a:srgbClr val="3D4C5C"/>
                </a:solidFill>
                <a:latin typeface="IBM Plex Sans" pitchFamily="34" charset="0"/>
                <a:ea typeface="IBM Plex Sans" pitchFamily="34" charset="-122"/>
                <a:cs typeface="IBM Plex Sans" pitchFamily="34" charset="-120"/>
              </a:rPr>
              <a:t>Tipo de problema:</a:t>
            </a:r>
            <a:r>
              <a:rPr lang="en-US" sz="1500" dirty="0">
                <a:solidFill>
                  <a:srgbClr val="3D4C5C"/>
                </a:solidFill>
                <a:latin typeface="IBM Plex Sans" pitchFamily="34" charset="0"/>
                <a:ea typeface="IBM Plex Sans" pitchFamily="34" charset="-122"/>
                <a:cs typeface="IBM Plex Sans" pitchFamily="34" charset="-120"/>
              </a:rPr>
              <a:t> clasificación binaria supervisada con desbalance moderado.</a:t>
            </a:r>
            <a:endParaRPr lang="en-US" sz="1500" dirty="0"/>
          </a:p>
        </p:txBody>
      </p:sp>
      <p:sp>
        <p:nvSpPr>
          <p:cNvPr id="5" name="Shape 3"/>
          <p:cNvSpPr/>
          <p:nvPr/>
        </p:nvSpPr>
        <p:spPr>
          <a:xfrm>
            <a:off x="815975" y="3587055"/>
            <a:ext cx="3380284" cy="1533426"/>
          </a:xfrm>
          <a:prstGeom prst="roundRect">
            <a:avLst>
              <a:gd name="adj" fmla="val 6419"/>
            </a:avLst>
          </a:prstGeom>
          <a:solidFill>
            <a:srgbClr val="FFFFFC"/>
          </a:solidFill>
          <a:ln w="6350">
            <a:solidFill>
              <a:srgbClr val="D8D3C7"/>
            </a:solidFill>
            <a:prstDash val="solid"/>
          </a:ln>
        </p:spPr>
      </p:sp>
      <p:sp>
        <p:nvSpPr>
          <p:cNvPr id="6" name="Text 4"/>
          <p:cNvSpPr/>
          <p:nvPr/>
        </p:nvSpPr>
        <p:spPr>
          <a:xfrm>
            <a:off x="1047750" y="3818830"/>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541B"/>
                </a:solidFill>
                <a:latin typeface="IBM Plex Sans" pitchFamily="34" charset="0"/>
                <a:ea typeface="IBM Plex Sans" pitchFamily="34" charset="-122"/>
                <a:cs typeface="IBM Plex Sans" pitchFamily="34" charset="-120"/>
              </a:rPr>
              <a:t>SUPERAR LOS BASELINES</a:t>
            </a:r>
            <a:endParaRPr lang="en-US" sz="1200" dirty="0"/>
          </a:p>
        </p:txBody>
      </p:sp>
      <p:sp>
        <p:nvSpPr>
          <p:cNvPr id="7" name="Text 5"/>
          <p:cNvSpPr/>
          <p:nvPr/>
        </p:nvSpPr>
        <p:spPr>
          <a:xfrm>
            <a:off x="1047750" y="4108351"/>
            <a:ext cx="3145334"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263A"/>
                </a:solidFill>
                <a:latin typeface="Domine" pitchFamily="18" charset="0"/>
                <a:ea typeface="Domine" pitchFamily="18" charset="-122"/>
                <a:cs typeface="Domine" pitchFamily="18" charset="-120"/>
              </a:rPr>
              <a:t>PR-AUC &gt; 0.60</a:t>
            </a:r>
            <a:endParaRPr lang="en-US" sz="3200" dirty="0"/>
          </a:p>
        </p:txBody>
      </p:sp>
      <p:sp>
        <p:nvSpPr>
          <p:cNvPr id="8" name="Text 6"/>
          <p:cNvSpPr/>
          <p:nvPr/>
        </p:nvSpPr>
        <p:spPr>
          <a:xfrm>
            <a:off x="1047750" y="4631531"/>
            <a:ext cx="300423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C5C"/>
                </a:solidFill>
                <a:latin typeface="IBM Plex Sans" pitchFamily="34" charset="0"/>
                <a:ea typeface="IBM Plex Sans" pitchFamily="34" charset="-122"/>
                <a:cs typeface="IBM Plex Sans" pitchFamily="34" charset="-120"/>
              </a:rPr>
              <a:t>La prevalencia de fuga es 0.265</a:t>
            </a:r>
            <a:endParaRPr lang="en-US" sz="1500" dirty="0"/>
          </a:p>
        </p:txBody>
      </p:sp>
      <p:sp>
        <p:nvSpPr>
          <p:cNvPr id="9" name="Shape 7"/>
          <p:cNvSpPr/>
          <p:nvPr/>
        </p:nvSpPr>
        <p:spPr>
          <a:xfrm>
            <a:off x="4405809" y="3587055"/>
            <a:ext cx="3380383" cy="1533426"/>
          </a:xfrm>
          <a:prstGeom prst="roundRect">
            <a:avLst>
              <a:gd name="adj" fmla="val 6419"/>
            </a:avLst>
          </a:prstGeom>
          <a:solidFill>
            <a:srgbClr val="FFFFFC"/>
          </a:solidFill>
          <a:ln w="6350">
            <a:solidFill>
              <a:srgbClr val="D8D3C7"/>
            </a:solidFill>
            <a:prstDash val="solid"/>
          </a:ln>
        </p:spPr>
      </p:sp>
      <p:sp>
        <p:nvSpPr>
          <p:cNvPr id="10" name="Text 8"/>
          <p:cNvSpPr/>
          <p:nvPr/>
        </p:nvSpPr>
        <p:spPr>
          <a:xfrm>
            <a:off x="4637584" y="3818830"/>
            <a:ext cx="300433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541B"/>
                </a:solidFill>
                <a:latin typeface="IBM Plex Sans" pitchFamily="34" charset="0"/>
                <a:ea typeface="IBM Plex Sans" pitchFamily="34" charset="-122"/>
                <a:cs typeface="IBM Plex Sans" pitchFamily="34" charset="-120"/>
              </a:rPr>
              <a:t>COBERTURA DE RIESGO</a:t>
            </a:r>
            <a:endParaRPr lang="en-US" sz="1200" dirty="0"/>
          </a:p>
        </p:txBody>
      </p:sp>
      <p:sp>
        <p:nvSpPr>
          <p:cNvPr id="11" name="Text 9"/>
          <p:cNvSpPr/>
          <p:nvPr/>
        </p:nvSpPr>
        <p:spPr>
          <a:xfrm>
            <a:off x="4637584" y="4108351"/>
            <a:ext cx="3004338"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263A"/>
                </a:solidFill>
                <a:latin typeface="Domine" pitchFamily="18" charset="0"/>
                <a:ea typeface="Domine" pitchFamily="18" charset="-122"/>
                <a:cs typeface="Domine" pitchFamily="18" charset="-120"/>
              </a:rPr>
              <a:t>Recall ≥ 0.75</a:t>
            </a:r>
            <a:endParaRPr lang="en-US" sz="3200" dirty="0"/>
          </a:p>
        </p:txBody>
      </p:sp>
      <p:sp>
        <p:nvSpPr>
          <p:cNvPr id="12" name="Text 10"/>
          <p:cNvSpPr/>
          <p:nvPr/>
        </p:nvSpPr>
        <p:spPr>
          <a:xfrm>
            <a:off x="4637584" y="4631531"/>
            <a:ext cx="300433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C5C"/>
                </a:solidFill>
                <a:latin typeface="IBM Plex Sans" pitchFamily="34" charset="0"/>
                <a:ea typeface="IBM Plex Sans" pitchFamily="34" charset="-122"/>
                <a:cs typeface="IBM Plex Sans" pitchFamily="34" charset="-120"/>
              </a:rPr>
              <a:t>Sobre la clase fuga</a:t>
            </a:r>
            <a:endParaRPr lang="en-US" sz="1500" dirty="0"/>
          </a:p>
        </p:txBody>
      </p:sp>
      <p:sp>
        <p:nvSpPr>
          <p:cNvPr id="13" name="Shape 11"/>
          <p:cNvSpPr/>
          <p:nvPr/>
        </p:nvSpPr>
        <p:spPr>
          <a:xfrm>
            <a:off x="7995741" y="3587055"/>
            <a:ext cx="3380284" cy="1533426"/>
          </a:xfrm>
          <a:prstGeom prst="roundRect">
            <a:avLst>
              <a:gd name="adj" fmla="val 6419"/>
            </a:avLst>
          </a:prstGeom>
          <a:solidFill>
            <a:srgbClr val="FFFFFC"/>
          </a:solidFill>
          <a:ln w="6350">
            <a:solidFill>
              <a:srgbClr val="D8D3C7"/>
            </a:solidFill>
            <a:prstDash val="solid"/>
          </a:ln>
        </p:spPr>
      </p:sp>
      <p:sp>
        <p:nvSpPr>
          <p:cNvPr id="14" name="Text 12"/>
          <p:cNvSpPr/>
          <p:nvPr/>
        </p:nvSpPr>
        <p:spPr>
          <a:xfrm>
            <a:off x="8227516" y="3818830"/>
            <a:ext cx="300423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541B"/>
                </a:solidFill>
                <a:latin typeface="IBM Plex Sans" pitchFamily="34" charset="0"/>
                <a:ea typeface="IBM Plex Sans" pitchFamily="34" charset="-122"/>
                <a:cs typeface="IBM Plex Sans" pitchFamily="34" charset="-120"/>
              </a:rPr>
              <a:t>UTILIDAD ECONÓMICA</a:t>
            </a:r>
            <a:endParaRPr lang="en-US" sz="1200" dirty="0"/>
          </a:p>
        </p:txBody>
      </p:sp>
      <p:sp>
        <p:nvSpPr>
          <p:cNvPr id="15" name="Text 13"/>
          <p:cNvSpPr/>
          <p:nvPr/>
        </p:nvSpPr>
        <p:spPr>
          <a:xfrm>
            <a:off x="8227516" y="4108351"/>
            <a:ext cx="3004236"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2263A"/>
                </a:solidFill>
                <a:latin typeface="Domine" pitchFamily="18" charset="0"/>
                <a:ea typeface="Domine" pitchFamily="18" charset="-122"/>
                <a:cs typeface="Domine" pitchFamily="18" charset="-120"/>
              </a:rPr>
              <a:t>Valor neto &gt; 0</a:t>
            </a:r>
            <a:endParaRPr lang="en-US" sz="3200" dirty="0"/>
          </a:p>
        </p:txBody>
      </p:sp>
      <p:sp>
        <p:nvSpPr>
          <p:cNvPr id="16" name="Text 14"/>
          <p:cNvSpPr/>
          <p:nvPr/>
        </p:nvSpPr>
        <p:spPr>
          <a:xfrm>
            <a:off x="8227516" y="4631531"/>
            <a:ext cx="300423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C5C"/>
                </a:solidFill>
                <a:latin typeface="IBM Plex Sans" pitchFamily="34" charset="0"/>
                <a:ea typeface="IBM Plex Sans" pitchFamily="34" charset="-122"/>
                <a:cs typeface="IBM Plex Sans" pitchFamily="34" charset="-120"/>
              </a:rPr>
              <a:t>Simulada con costos supuestos</a:t>
            </a:r>
            <a:endParaRPr lang="en-US" sz="1500" dirty="0"/>
          </a:p>
        </p:txBody>
      </p:sp>
      <p:sp>
        <p:nvSpPr>
          <p:cNvPr id="17" name="Text 15"/>
          <p:cNvSpPr/>
          <p:nvPr/>
        </p:nvSpPr>
        <p:spPr>
          <a:xfrm>
            <a:off x="812800" y="6238280"/>
            <a:ext cx="34381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Criterios de utilidad definidos por el grupo</a:t>
            </a:r>
            <a:endParaRPr lang="en-US" sz="1200" dirty="0"/>
          </a:p>
        </p:txBody>
      </p:sp>
      <p:sp>
        <p:nvSpPr>
          <p:cNvPr id="18" name="Text 16"/>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Dataset: Telco Customer Churn</a:t>
            </a:r>
            <a:endParaRPr lang="en-US" sz="3200" dirty="0"/>
          </a:p>
        </p:txBody>
      </p:sp>
      <p:sp>
        <p:nvSpPr>
          <p:cNvPr id="3" name="Shape 1"/>
          <p:cNvSpPr/>
          <p:nvPr/>
        </p:nvSpPr>
        <p:spPr>
          <a:xfrm>
            <a:off x="812800" y="1526480"/>
            <a:ext cx="3386634" cy="0"/>
          </a:xfrm>
          <a:prstGeom prst="line">
            <a:avLst/>
          </a:prstGeom>
          <a:noFill/>
          <a:ln w="25400">
            <a:solidFill>
              <a:srgbClr val="2B5C8F"/>
            </a:solidFill>
            <a:prstDash val="solid"/>
          </a:ln>
        </p:spPr>
      </p:sp>
      <p:sp>
        <p:nvSpPr>
          <p:cNvPr id="4" name="Text 2"/>
          <p:cNvSpPr/>
          <p:nvPr/>
        </p:nvSpPr>
        <p:spPr>
          <a:xfrm>
            <a:off x="812800" y="1691580"/>
            <a:ext cx="3488233" cy="807641"/>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2B5C8F"/>
                </a:solidFill>
                <a:latin typeface="Domine" pitchFamily="18" charset="0"/>
                <a:ea typeface="Domine" pitchFamily="18" charset="-122"/>
                <a:cs typeface="Domine" pitchFamily="18" charset="-120"/>
              </a:rPr>
              <a:t>7,043</a:t>
            </a:r>
            <a:endParaRPr lang="en-US" sz="5600" dirty="0"/>
          </a:p>
        </p:txBody>
      </p:sp>
      <p:sp>
        <p:nvSpPr>
          <p:cNvPr id="5" name="Text 3"/>
          <p:cNvSpPr/>
          <p:nvPr/>
        </p:nvSpPr>
        <p:spPr>
          <a:xfrm>
            <a:off x="812800" y="2499221"/>
            <a:ext cx="348823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C5C"/>
                </a:solidFill>
                <a:latin typeface="IBM Plex Sans" pitchFamily="34" charset="0"/>
                <a:ea typeface="IBM Plex Sans" pitchFamily="34" charset="-122"/>
                <a:cs typeface="IBM Plex Sans" pitchFamily="34" charset="-120"/>
              </a:rPr>
              <a:t>clientes, uno por fila</a:t>
            </a:r>
            <a:endParaRPr lang="en-US" sz="1500" dirty="0"/>
          </a:p>
        </p:txBody>
      </p:sp>
      <p:sp>
        <p:nvSpPr>
          <p:cNvPr id="6" name="Shape 4"/>
          <p:cNvSpPr/>
          <p:nvPr/>
        </p:nvSpPr>
        <p:spPr>
          <a:xfrm>
            <a:off x="4402634" y="1526480"/>
            <a:ext cx="3386733" cy="0"/>
          </a:xfrm>
          <a:prstGeom prst="line">
            <a:avLst/>
          </a:prstGeom>
          <a:noFill/>
          <a:ln w="25400">
            <a:solidFill>
              <a:srgbClr val="2B5C8F"/>
            </a:solidFill>
            <a:prstDash val="solid"/>
          </a:ln>
        </p:spPr>
      </p:sp>
      <p:sp>
        <p:nvSpPr>
          <p:cNvPr id="7" name="Text 5"/>
          <p:cNvSpPr/>
          <p:nvPr/>
        </p:nvSpPr>
        <p:spPr>
          <a:xfrm>
            <a:off x="4402634" y="1691580"/>
            <a:ext cx="3488335" cy="807641"/>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2B5C8F"/>
                </a:solidFill>
                <a:latin typeface="Domine" pitchFamily="18" charset="0"/>
                <a:ea typeface="Domine" pitchFamily="18" charset="-122"/>
                <a:cs typeface="Domine" pitchFamily="18" charset="-120"/>
              </a:rPr>
              <a:t>21</a:t>
            </a:r>
            <a:endParaRPr lang="en-US" sz="5600" dirty="0"/>
          </a:p>
        </p:txBody>
      </p:sp>
      <p:sp>
        <p:nvSpPr>
          <p:cNvPr id="8" name="Text 6"/>
          <p:cNvSpPr/>
          <p:nvPr/>
        </p:nvSpPr>
        <p:spPr>
          <a:xfrm>
            <a:off x="4402634" y="2499221"/>
            <a:ext cx="348833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C5C"/>
                </a:solidFill>
                <a:latin typeface="IBM Plex Sans" pitchFamily="34" charset="0"/>
                <a:ea typeface="IBM Plex Sans" pitchFamily="34" charset="-122"/>
                <a:cs typeface="IBM Plex Sans" pitchFamily="34" charset="-120"/>
              </a:rPr>
              <a:t>atributos: perfil, servicios, contrato y facturación</a:t>
            </a:r>
            <a:endParaRPr lang="en-US" sz="1500" dirty="0"/>
          </a:p>
        </p:txBody>
      </p:sp>
      <p:sp>
        <p:nvSpPr>
          <p:cNvPr id="9" name="Shape 7"/>
          <p:cNvSpPr/>
          <p:nvPr/>
        </p:nvSpPr>
        <p:spPr>
          <a:xfrm>
            <a:off x="7992566" y="1526480"/>
            <a:ext cx="3386634" cy="0"/>
          </a:xfrm>
          <a:prstGeom prst="line">
            <a:avLst/>
          </a:prstGeom>
          <a:noFill/>
          <a:ln w="25400">
            <a:solidFill>
              <a:srgbClr val="C2541B"/>
            </a:solidFill>
            <a:prstDash val="solid"/>
          </a:ln>
        </p:spPr>
      </p:sp>
      <p:sp>
        <p:nvSpPr>
          <p:cNvPr id="10" name="Text 8"/>
          <p:cNvSpPr/>
          <p:nvPr/>
        </p:nvSpPr>
        <p:spPr>
          <a:xfrm>
            <a:off x="7992566" y="1691580"/>
            <a:ext cx="3488233" cy="807641"/>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C2541B"/>
                </a:solidFill>
                <a:latin typeface="Domine" pitchFamily="18" charset="0"/>
                <a:ea typeface="Domine" pitchFamily="18" charset="-122"/>
                <a:cs typeface="Domine" pitchFamily="18" charset="-120"/>
              </a:rPr>
              <a:t>26.5 %</a:t>
            </a:r>
            <a:endParaRPr lang="en-US" sz="5600" dirty="0"/>
          </a:p>
        </p:txBody>
      </p:sp>
      <p:sp>
        <p:nvSpPr>
          <p:cNvPr id="11" name="Text 9"/>
          <p:cNvSpPr/>
          <p:nvPr/>
        </p:nvSpPr>
        <p:spPr>
          <a:xfrm>
            <a:off x="7992566" y="2499221"/>
            <a:ext cx="3488233"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D4C5C"/>
                </a:solidFill>
                <a:latin typeface="IBM Plex Sans" pitchFamily="34" charset="0"/>
                <a:ea typeface="IBM Plex Sans" pitchFamily="34" charset="-122"/>
                <a:cs typeface="IBM Plex Sans" pitchFamily="34" charset="-120"/>
              </a:rPr>
              <a:t>de fuga (1,869 clientes): la accuracy no sirve como guía</a:t>
            </a:r>
            <a:endParaRPr lang="en-US" sz="1500" dirty="0"/>
          </a:p>
        </p:txBody>
      </p:sp>
      <p:sp>
        <p:nvSpPr>
          <p:cNvPr id="12" name="Text 10"/>
          <p:cNvSpPr/>
          <p:nvPr/>
        </p:nvSpPr>
        <p:spPr>
          <a:xfrm>
            <a:off x="812800" y="3267571"/>
            <a:ext cx="52324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Procedencia</a:t>
            </a:r>
            <a:endParaRPr lang="en-US" sz="1500" dirty="0"/>
          </a:p>
        </p:txBody>
      </p:sp>
      <p:sp>
        <p:nvSpPr>
          <p:cNvPr id="13" name="Text 11"/>
          <p:cNvSpPr/>
          <p:nvPr/>
        </p:nvSpPr>
        <p:spPr>
          <a:xfrm>
            <a:off x="812800" y="3591421"/>
            <a:ext cx="523240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C5C"/>
                </a:solidFill>
                <a:latin typeface="IBM Plex Sans" pitchFamily="34" charset="0"/>
                <a:ea typeface="IBM Plex Sans" pitchFamily="34" charset="-122"/>
                <a:cs typeface="IBM Plex Sans" pitchFamily="34" charset="-120"/>
              </a:rPr>
              <a:t>Datos de muestra de IBM Cognos Analytics, publicados en Kaggle por el autor blastchar. Variable objetivo: Churn (1 = fuga, 0 = retención).</a:t>
            </a:r>
            <a:endParaRPr lang="en-US" sz="1500" dirty="0"/>
          </a:p>
        </p:txBody>
      </p:sp>
      <p:sp>
        <p:nvSpPr>
          <p:cNvPr id="14" name="Text 12"/>
          <p:cNvSpPr/>
          <p:nvPr/>
        </p:nvSpPr>
        <p:spPr>
          <a:xfrm>
            <a:off x="6299200" y="3267571"/>
            <a:ext cx="52324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Limitación principal</a:t>
            </a:r>
            <a:endParaRPr lang="en-US" sz="1500" dirty="0"/>
          </a:p>
        </p:txBody>
      </p:sp>
      <p:sp>
        <p:nvSpPr>
          <p:cNvPr id="15" name="Text 13"/>
          <p:cNvSpPr/>
          <p:nvPr/>
        </p:nvSpPr>
        <p:spPr>
          <a:xfrm>
            <a:off x="6299200" y="3591421"/>
            <a:ext cx="52324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C5C"/>
                </a:solidFill>
                <a:latin typeface="IBM Plex Sans" pitchFamily="34" charset="0"/>
                <a:ea typeface="IBM Plex Sans" pitchFamily="34" charset="-122"/>
                <a:cs typeface="IBM Plex Sans" pitchFamily="34" charset="-120"/>
              </a:rPr>
              <a:t>Corte transversal: no contiene historial transaccional ni temporal que permita modelar la evolución del cliente.</a:t>
            </a:r>
            <a:endParaRPr lang="en-US" sz="1500" dirty="0"/>
          </a:p>
        </p:txBody>
      </p:sp>
      <p:sp>
        <p:nvSpPr>
          <p:cNvPr id="16" name="Text 14"/>
          <p:cNvSpPr/>
          <p:nvPr/>
        </p:nvSpPr>
        <p:spPr>
          <a:xfrm>
            <a:off x="812800" y="6238280"/>
            <a:ext cx="29204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TP1 · Predicción de fuga de clientes</a:t>
            </a:r>
            <a:endParaRPr lang="en-US" sz="1200" dirty="0"/>
          </a:p>
        </p:txBody>
      </p:sp>
      <p:sp>
        <p:nvSpPr>
          <p:cNvPr id="17" name="Text 1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9E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Contrato y antigüedad concentran el riesgo</a:t>
            </a:r>
            <a:endParaRPr lang="en-US" sz="3200" dirty="0"/>
          </a:p>
        </p:txBody>
      </p:sp>
      <p:sp>
        <p:nvSpPr>
          <p:cNvPr id="3" name="Text 1"/>
          <p:cNvSpPr/>
          <p:nvPr/>
        </p:nvSpPr>
        <p:spPr>
          <a:xfrm>
            <a:off x="812800" y="1513780"/>
            <a:ext cx="52324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Tasa de fuga por tipo de contrato</a:t>
            </a:r>
            <a:endParaRPr lang="en-US" sz="1500" dirty="0"/>
          </a:p>
        </p:txBody>
      </p:sp>
      <p:sp>
        <p:nvSpPr>
          <p:cNvPr id="4" name="Text 2"/>
          <p:cNvSpPr/>
          <p:nvPr/>
        </p:nvSpPr>
        <p:spPr>
          <a:xfrm>
            <a:off x="812800" y="19037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Mensual</a:t>
            </a:r>
            <a:endParaRPr lang="en-US" sz="1400" dirty="0"/>
          </a:p>
        </p:txBody>
      </p:sp>
      <p:sp>
        <p:nvSpPr>
          <p:cNvPr id="5" name="Shape 3"/>
          <p:cNvSpPr/>
          <p:nvPr/>
        </p:nvSpPr>
        <p:spPr>
          <a:xfrm>
            <a:off x="2374900" y="1888430"/>
            <a:ext cx="2171700" cy="279400"/>
          </a:xfrm>
          <a:prstGeom prst="roundRect">
            <a:avLst>
              <a:gd name="adj" fmla="val 9091"/>
            </a:avLst>
          </a:prstGeom>
          <a:solidFill>
            <a:srgbClr val="C2541B"/>
          </a:solidFill>
          <a:ln/>
        </p:spPr>
      </p:sp>
      <p:sp>
        <p:nvSpPr>
          <p:cNvPr id="6" name="Text 4"/>
          <p:cNvSpPr/>
          <p:nvPr/>
        </p:nvSpPr>
        <p:spPr>
          <a:xfrm>
            <a:off x="4648200" y="1903710"/>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42.7 %</a:t>
            </a:r>
            <a:endParaRPr lang="en-US" sz="1400" dirty="0"/>
          </a:p>
        </p:txBody>
      </p:sp>
      <p:sp>
        <p:nvSpPr>
          <p:cNvPr id="7" name="Text 5"/>
          <p:cNvSpPr/>
          <p:nvPr/>
        </p:nvSpPr>
        <p:spPr>
          <a:xfrm>
            <a:off x="812800" y="23101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Un año</a:t>
            </a:r>
            <a:endParaRPr lang="en-US" sz="1400" dirty="0"/>
          </a:p>
        </p:txBody>
      </p:sp>
      <p:sp>
        <p:nvSpPr>
          <p:cNvPr id="8" name="Shape 6"/>
          <p:cNvSpPr/>
          <p:nvPr/>
        </p:nvSpPr>
        <p:spPr>
          <a:xfrm>
            <a:off x="2374900" y="2294830"/>
            <a:ext cx="571500" cy="279400"/>
          </a:xfrm>
          <a:prstGeom prst="roundRect">
            <a:avLst>
              <a:gd name="adj" fmla="val 9091"/>
            </a:avLst>
          </a:prstGeom>
          <a:solidFill>
            <a:srgbClr val="C2541B"/>
          </a:solidFill>
          <a:ln/>
        </p:spPr>
      </p:sp>
      <p:sp>
        <p:nvSpPr>
          <p:cNvPr id="9" name="Text 7"/>
          <p:cNvSpPr/>
          <p:nvPr/>
        </p:nvSpPr>
        <p:spPr>
          <a:xfrm>
            <a:off x="3048000" y="2310110"/>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11.3 %</a:t>
            </a:r>
            <a:endParaRPr lang="en-US" sz="1400" dirty="0"/>
          </a:p>
        </p:txBody>
      </p:sp>
      <p:sp>
        <p:nvSpPr>
          <p:cNvPr id="10" name="Text 8"/>
          <p:cNvSpPr/>
          <p:nvPr/>
        </p:nvSpPr>
        <p:spPr>
          <a:xfrm>
            <a:off x="812800" y="27165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Dos años</a:t>
            </a:r>
            <a:endParaRPr lang="en-US" sz="1400" dirty="0"/>
          </a:p>
        </p:txBody>
      </p:sp>
      <p:sp>
        <p:nvSpPr>
          <p:cNvPr id="11" name="Shape 9"/>
          <p:cNvSpPr/>
          <p:nvPr/>
        </p:nvSpPr>
        <p:spPr>
          <a:xfrm>
            <a:off x="2374900" y="2701230"/>
            <a:ext cx="139700" cy="279400"/>
          </a:xfrm>
          <a:prstGeom prst="roundRect">
            <a:avLst>
              <a:gd name="adj" fmla="val 18182"/>
            </a:avLst>
          </a:prstGeom>
          <a:solidFill>
            <a:srgbClr val="C2541B"/>
          </a:solidFill>
          <a:ln/>
        </p:spPr>
      </p:sp>
      <p:sp>
        <p:nvSpPr>
          <p:cNvPr id="12" name="Text 10"/>
          <p:cNvSpPr/>
          <p:nvPr/>
        </p:nvSpPr>
        <p:spPr>
          <a:xfrm>
            <a:off x="2616200" y="2716510"/>
            <a:ext cx="5750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2.8 %</a:t>
            </a:r>
            <a:endParaRPr lang="en-US" sz="1400" dirty="0"/>
          </a:p>
        </p:txBody>
      </p:sp>
      <p:sp>
        <p:nvSpPr>
          <p:cNvPr id="13" name="Text 11"/>
          <p:cNvSpPr/>
          <p:nvPr/>
        </p:nvSpPr>
        <p:spPr>
          <a:xfrm>
            <a:off x="812800" y="3920430"/>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Interpretamos:</a:t>
            </a:r>
            <a:r>
              <a:rPr lang="en-US" sz="1400" dirty="0">
                <a:solidFill>
                  <a:srgbClr val="3D4C5C"/>
                </a:solidFill>
                <a:latin typeface="IBM Plex Sans" pitchFamily="34" charset="0"/>
                <a:ea typeface="IBM Plex Sans" pitchFamily="34" charset="-122"/>
                <a:cs typeface="IBM Plex Sans" pitchFamily="34" charset="-120"/>
              </a:rPr>
              <a:t> el compromiso contractual actúa como barrera de salida; es la variable que más separa a los grupos.</a:t>
            </a:r>
            <a:endParaRPr lang="en-US" sz="1400" dirty="0"/>
          </a:p>
        </p:txBody>
      </p:sp>
      <p:sp>
        <p:nvSpPr>
          <p:cNvPr id="14" name="Text 12"/>
          <p:cNvSpPr/>
          <p:nvPr/>
        </p:nvSpPr>
        <p:spPr>
          <a:xfrm>
            <a:off x="6299200" y="1513780"/>
            <a:ext cx="52324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Tasa de fuga por meses de antigüedad</a:t>
            </a:r>
            <a:endParaRPr lang="en-US" sz="1500" dirty="0"/>
          </a:p>
        </p:txBody>
      </p:sp>
      <p:sp>
        <p:nvSpPr>
          <p:cNvPr id="15" name="Text 13"/>
          <p:cNvSpPr/>
          <p:nvPr/>
        </p:nvSpPr>
        <p:spPr>
          <a:xfrm>
            <a:off x="6299200" y="19037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 a 5 meses</a:t>
            </a:r>
            <a:endParaRPr lang="en-US" sz="1400" dirty="0"/>
          </a:p>
        </p:txBody>
      </p:sp>
      <p:sp>
        <p:nvSpPr>
          <p:cNvPr id="16" name="Shape 14"/>
          <p:cNvSpPr/>
          <p:nvPr/>
        </p:nvSpPr>
        <p:spPr>
          <a:xfrm>
            <a:off x="7861300" y="1888430"/>
            <a:ext cx="2755900" cy="279400"/>
          </a:xfrm>
          <a:prstGeom prst="roundRect">
            <a:avLst>
              <a:gd name="adj" fmla="val 9091"/>
            </a:avLst>
          </a:prstGeom>
          <a:solidFill>
            <a:srgbClr val="2B5C8F"/>
          </a:solidFill>
          <a:ln/>
        </p:spPr>
      </p:sp>
      <p:sp>
        <p:nvSpPr>
          <p:cNvPr id="17" name="Text 15"/>
          <p:cNvSpPr/>
          <p:nvPr/>
        </p:nvSpPr>
        <p:spPr>
          <a:xfrm>
            <a:off x="10718800" y="1903710"/>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54.3 %</a:t>
            </a:r>
            <a:endParaRPr lang="en-US" sz="1400" dirty="0"/>
          </a:p>
        </p:txBody>
      </p:sp>
      <p:sp>
        <p:nvSpPr>
          <p:cNvPr id="18" name="Text 16"/>
          <p:cNvSpPr/>
          <p:nvPr/>
        </p:nvSpPr>
        <p:spPr>
          <a:xfrm>
            <a:off x="6299200" y="23101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6 a 12 meses</a:t>
            </a:r>
            <a:endParaRPr lang="en-US" sz="1400" dirty="0"/>
          </a:p>
        </p:txBody>
      </p:sp>
      <p:sp>
        <p:nvSpPr>
          <p:cNvPr id="19" name="Shape 17"/>
          <p:cNvSpPr/>
          <p:nvPr/>
        </p:nvSpPr>
        <p:spPr>
          <a:xfrm>
            <a:off x="7861300" y="2294830"/>
            <a:ext cx="1828800" cy="279400"/>
          </a:xfrm>
          <a:prstGeom prst="roundRect">
            <a:avLst>
              <a:gd name="adj" fmla="val 9091"/>
            </a:avLst>
          </a:prstGeom>
          <a:solidFill>
            <a:srgbClr val="2B5C8F"/>
          </a:solidFill>
          <a:ln/>
        </p:spPr>
      </p:sp>
      <p:sp>
        <p:nvSpPr>
          <p:cNvPr id="20" name="Text 18"/>
          <p:cNvSpPr/>
          <p:nvPr/>
        </p:nvSpPr>
        <p:spPr>
          <a:xfrm>
            <a:off x="9791700" y="2310110"/>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36.0 %</a:t>
            </a:r>
            <a:endParaRPr lang="en-US" sz="1400" dirty="0"/>
          </a:p>
        </p:txBody>
      </p:sp>
      <p:sp>
        <p:nvSpPr>
          <p:cNvPr id="21" name="Text 19"/>
          <p:cNvSpPr/>
          <p:nvPr/>
        </p:nvSpPr>
        <p:spPr>
          <a:xfrm>
            <a:off x="6299200" y="27165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13 a 24 meses</a:t>
            </a:r>
            <a:endParaRPr lang="en-US" sz="1400" dirty="0"/>
          </a:p>
        </p:txBody>
      </p:sp>
      <p:sp>
        <p:nvSpPr>
          <p:cNvPr id="22" name="Shape 20"/>
          <p:cNvSpPr/>
          <p:nvPr/>
        </p:nvSpPr>
        <p:spPr>
          <a:xfrm>
            <a:off x="7861300" y="2701230"/>
            <a:ext cx="1460500" cy="279400"/>
          </a:xfrm>
          <a:prstGeom prst="roundRect">
            <a:avLst>
              <a:gd name="adj" fmla="val 9091"/>
            </a:avLst>
          </a:prstGeom>
          <a:solidFill>
            <a:srgbClr val="2B5C8F"/>
          </a:solidFill>
          <a:ln/>
        </p:spPr>
      </p:sp>
      <p:sp>
        <p:nvSpPr>
          <p:cNvPr id="23" name="Text 21"/>
          <p:cNvSpPr/>
          <p:nvPr/>
        </p:nvSpPr>
        <p:spPr>
          <a:xfrm>
            <a:off x="9423400" y="2716510"/>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28.7 %</a:t>
            </a:r>
            <a:endParaRPr lang="en-US" sz="1400" dirty="0"/>
          </a:p>
        </p:txBody>
      </p:sp>
      <p:sp>
        <p:nvSpPr>
          <p:cNvPr id="24" name="Text 22"/>
          <p:cNvSpPr/>
          <p:nvPr/>
        </p:nvSpPr>
        <p:spPr>
          <a:xfrm>
            <a:off x="6299200" y="31229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25 a 48 meses</a:t>
            </a:r>
            <a:endParaRPr lang="en-US" sz="1400" dirty="0"/>
          </a:p>
        </p:txBody>
      </p:sp>
      <p:sp>
        <p:nvSpPr>
          <p:cNvPr id="25" name="Shape 23"/>
          <p:cNvSpPr/>
          <p:nvPr/>
        </p:nvSpPr>
        <p:spPr>
          <a:xfrm>
            <a:off x="7861300" y="3107630"/>
            <a:ext cx="1035050" cy="279400"/>
          </a:xfrm>
          <a:prstGeom prst="roundRect">
            <a:avLst>
              <a:gd name="adj" fmla="val 9091"/>
            </a:avLst>
          </a:prstGeom>
          <a:solidFill>
            <a:srgbClr val="2B5C8F"/>
          </a:solidFill>
          <a:ln/>
        </p:spPr>
      </p:sp>
      <p:sp>
        <p:nvSpPr>
          <p:cNvPr id="26" name="Text 24"/>
          <p:cNvSpPr/>
          <p:nvPr/>
        </p:nvSpPr>
        <p:spPr>
          <a:xfrm>
            <a:off x="8997950" y="3122910"/>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20.4 %</a:t>
            </a:r>
            <a:endParaRPr lang="en-US" sz="1400" dirty="0"/>
          </a:p>
        </p:txBody>
      </p:sp>
      <p:sp>
        <p:nvSpPr>
          <p:cNvPr id="27" name="Text 25"/>
          <p:cNvSpPr/>
          <p:nvPr/>
        </p:nvSpPr>
        <p:spPr>
          <a:xfrm>
            <a:off x="6299200" y="35293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49 a 72 meses</a:t>
            </a:r>
            <a:endParaRPr lang="en-US" sz="1400" dirty="0"/>
          </a:p>
        </p:txBody>
      </p:sp>
      <p:sp>
        <p:nvSpPr>
          <p:cNvPr id="28" name="Shape 26"/>
          <p:cNvSpPr/>
          <p:nvPr/>
        </p:nvSpPr>
        <p:spPr>
          <a:xfrm>
            <a:off x="7861300" y="3514030"/>
            <a:ext cx="482600" cy="279400"/>
          </a:xfrm>
          <a:prstGeom prst="roundRect">
            <a:avLst>
              <a:gd name="adj" fmla="val 9091"/>
            </a:avLst>
          </a:prstGeom>
          <a:solidFill>
            <a:srgbClr val="2B5C8F"/>
          </a:solidFill>
          <a:ln/>
        </p:spPr>
      </p:sp>
      <p:sp>
        <p:nvSpPr>
          <p:cNvPr id="29" name="Text 27"/>
          <p:cNvSpPr/>
          <p:nvPr/>
        </p:nvSpPr>
        <p:spPr>
          <a:xfrm>
            <a:off x="8445500" y="3529310"/>
            <a:ext cx="5750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9.5 %</a:t>
            </a:r>
            <a:endParaRPr lang="en-US" sz="1400" dirty="0"/>
          </a:p>
        </p:txBody>
      </p:sp>
      <p:sp>
        <p:nvSpPr>
          <p:cNvPr id="30" name="Text 28"/>
          <p:cNvSpPr/>
          <p:nvPr/>
        </p:nvSpPr>
        <p:spPr>
          <a:xfrm>
            <a:off x="6299200" y="3920430"/>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Interpretamos:</a:t>
            </a:r>
            <a:r>
              <a:rPr lang="en-US" sz="1400" dirty="0">
                <a:solidFill>
                  <a:srgbClr val="3D4C5C"/>
                </a:solidFill>
                <a:latin typeface="IBM Plex Sans" pitchFamily="34" charset="0"/>
                <a:ea typeface="IBM Plex Sans" pitchFamily="34" charset="-122"/>
                <a:cs typeface="IBM Plex Sans" pitchFamily="34" charset="-120"/>
              </a:rPr>
              <a:t> posible fricción en los primeros meses. De aquí sale el baseline heurístico: contrato mensual y antigüedad ≤ 6.</a:t>
            </a:r>
            <a:endParaRPr lang="en-US" sz="1400" dirty="0"/>
          </a:p>
        </p:txBody>
      </p:sp>
      <p:sp>
        <p:nvSpPr>
          <p:cNvPr id="31" name="Text 29"/>
          <p:cNvSpPr/>
          <p:nvPr/>
        </p:nvSpPr>
        <p:spPr>
          <a:xfrm>
            <a:off x="812800" y="6238280"/>
            <a:ext cx="43569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Tasas calculadas sobre los 7,043 clientes del dataset</a:t>
            </a:r>
            <a:endParaRPr lang="en-US" sz="1200" dirty="0"/>
          </a:p>
        </p:txBody>
      </p:sp>
      <p:sp>
        <p:nvSpPr>
          <p:cNvPr id="32" name="Text 30"/>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9E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Servicio y forma de pago también separan grupos</a:t>
            </a:r>
            <a:endParaRPr lang="en-US" sz="3200" dirty="0"/>
          </a:p>
        </p:txBody>
      </p:sp>
      <p:sp>
        <p:nvSpPr>
          <p:cNvPr id="3" name="Text 1"/>
          <p:cNvSpPr/>
          <p:nvPr/>
        </p:nvSpPr>
        <p:spPr>
          <a:xfrm>
            <a:off x="812800" y="1513780"/>
            <a:ext cx="52324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Fibra óptica: fuga según soporte técnico</a:t>
            </a:r>
            <a:endParaRPr lang="en-US" sz="1500" dirty="0"/>
          </a:p>
        </p:txBody>
      </p:sp>
      <p:sp>
        <p:nvSpPr>
          <p:cNvPr id="4" name="Text 2"/>
          <p:cNvSpPr/>
          <p:nvPr/>
        </p:nvSpPr>
        <p:spPr>
          <a:xfrm>
            <a:off x="812800" y="19037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Sin soporte</a:t>
            </a:r>
            <a:endParaRPr lang="en-US" sz="1400" dirty="0"/>
          </a:p>
        </p:txBody>
      </p:sp>
      <p:sp>
        <p:nvSpPr>
          <p:cNvPr id="5" name="Shape 3"/>
          <p:cNvSpPr/>
          <p:nvPr/>
        </p:nvSpPr>
        <p:spPr>
          <a:xfrm>
            <a:off x="2374900" y="1888430"/>
            <a:ext cx="2508250" cy="279400"/>
          </a:xfrm>
          <a:prstGeom prst="roundRect">
            <a:avLst>
              <a:gd name="adj" fmla="val 9091"/>
            </a:avLst>
          </a:prstGeom>
          <a:solidFill>
            <a:srgbClr val="C2541B"/>
          </a:solidFill>
          <a:ln/>
        </p:spPr>
      </p:sp>
      <p:sp>
        <p:nvSpPr>
          <p:cNvPr id="6" name="Text 4"/>
          <p:cNvSpPr/>
          <p:nvPr/>
        </p:nvSpPr>
        <p:spPr>
          <a:xfrm>
            <a:off x="4984750" y="1903710"/>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49.4 %</a:t>
            </a:r>
            <a:endParaRPr lang="en-US" sz="1400" dirty="0"/>
          </a:p>
        </p:txBody>
      </p:sp>
      <p:sp>
        <p:nvSpPr>
          <p:cNvPr id="7" name="Text 5"/>
          <p:cNvSpPr/>
          <p:nvPr/>
        </p:nvSpPr>
        <p:spPr>
          <a:xfrm>
            <a:off x="812800" y="2310110"/>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Con soporte</a:t>
            </a:r>
            <a:endParaRPr lang="en-US" sz="1400" dirty="0"/>
          </a:p>
        </p:txBody>
      </p:sp>
      <p:sp>
        <p:nvSpPr>
          <p:cNvPr id="8" name="Shape 6"/>
          <p:cNvSpPr/>
          <p:nvPr/>
        </p:nvSpPr>
        <p:spPr>
          <a:xfrm>
            <a:off x="2374900" y="2294830"/>
            <a:ext cx="1149350" cy="279400"/>
          </a:xfrm>
          <a:prstGeom prst="roundRect">
            <a:avLst>
              <a:gd name="adj" fmla="val 9091"/>
            </a:avLst>
          </a:prstGeom>
          <a:solidFill>
            <a:srgbClr val="C2541B"/>
          </a:solidFill>
          <a:ln/>
        </p:spPr>
      </p:sp>
      <p:sp>
        <p:nvSpPr>
          <p:cNvPr id="9" name="Text 7"/>
          <p:cNvSpPr/>
          <p:nvPr/>
        </p:nvSpPr>
        <p:spPr>
          <a:xfrm>
            <a:off x="3625850" y="2310110"/>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22.6 %</a:t>
            </a:r>
            <a:endParaRPr lang="en-US" sz="1400" dirty="0"/>
          </a:p>
        </p:txBody>
      </p:sp>
      <p:sp>
        <p:nvSpPr>
          <p:cNvPr id="10" name="Text 8"/>
          <p:cNvSpPr/>
          <p:nvPr/>
        </p:nvSpPr>
        <p:spPr>
          <a:xfrm>
            <a:off x="812800" y="3828752"/>
            <a:ext cx="5232400"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Interpretamos:</a:t>
            </a:r>
            <a:r>
              <a:rPr lang="en-US" sz="1400" dirty="0">
                <a:solidFill>
                  <a:srgbClr val="3D4C5C"/>
                </a:solidFill>
                <a:latin typeface="IBM Plex Sans" pitchFamily="34" charset="0"/>
                <a:ea typeface="IBM Plex Sans" pitchFamily="34" charset="-122"/>
                <a:cs typeface="IBM Plex Sans" pitchFamily="34" charset="-120"/>
              </a:rPr>
              <a:t> un servicio caro sin asistencia ante incidencias puede generar insatisfacción. Quienes se van pagan una mediana de $79.65 al mes frente a $64.43.</a:t>
            </a:r>
            <a:endParaRPr lang="en-US" sz="1400" dirty="0"/>
          </a:p>
        </p:txBody>
      </p:sp>
      <p:sp>
        <p:nvSpPr>
          <p:cNvPr id="11" name="Text 9"/>
          <p:cNvSpPr/>
          <p:nvPr/>
        </p:nvSpPr>
        <p:spPr>
          <a:xfrm>
            <a:off x="6299200" y="1513780"/>
            <a:ext cx="52324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Tasa de fuga por método de pago</a:t>
            </a:r>
            <a:endParaRPr lang="en-US" sz="1500" dirty="0"/>
          </a:p>
        </p:txBody>
      </p:sp>
      <p:sp>
        <p:nvSpPr>
          <p:cNvPr id="12" name="Text 10"/>
          <p:cNvSpPr/>
          <p:nvPr/>
        </p:nvSpPr>
        <p:spPr>
          <a:xfrm>
            <a:off x="6299200" y="1888430"/>
            <a:ext cx="15113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Cheque electrónico</a:t>
            </a:r>
            <a:endParaRPr lang="en-US" sz="1400" dirty="0"/>
          </a:p>
        </p:txBody>
      </p:sp>
      <p:sp>
        <p:nvSpPr>
          <p:cNvPr id="13" name="Shape 11"/>
          <p:cNvSpPr/>
          <p:nvPr/>
        </p:nvSpPr>
        <p:spPr>
          <a:xfrm>
            <a:off x="7861300" y="1997571"/>
            <a:ext cx="2298700" cy="279400"/>
          </a:xfrm>
          <a:prstGeom prst="roundRect">
            <a:avLst>
              <a:gd name="adj" fmla="val 9091"/>
            </a:avLst>
          </a:prstGeom>
          <a:solidFill>
            <a:srgbClr val="2B5C8F"/>
          </a:solidFill>
          <a:ln/>
        </p:spPr>
      </p:sp>
      <p:sp>
        <p:nvSpPr>
          <p:cNvPr id="14" name="Text 12"/>
          <p:cNvSpPr/>
          <p:nvPr/>
        </p:nvSpPr>
        <p:spPr>
          <a:xfrm>
            <a:off x="10261600" y="2012851"/>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45.3 %</a:t>
            </a:r>
            <a:endParaRPr lang="en-US" sz="1400" dirty="0"/>
          </a:p>
        </p:txBody>
      </p:sp>
      <p:sp>
        <p:nvSpPr>
          <p:cNvPr id="15" name="Text 13"/>
          <p:cNvSpPr/>
          <p:nvPr/>
        </p:nvSpPr>
        <p:spPr>
          <a:xfrm>
            <a:off x="6299200" y="2513112"/>
            <a:ext cx="151130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Cheque por correo</a:t>
            </a:r>
            <a:endParaRPr lang="en-US" sz="1400" dirty="0"/>
          </a:p>
        </p:txBody>
      </p:sp>
      <p:sp>
        <p:nvSpPr>
          <p:cNvPr id="16" name="Shape 14"/>
          <p:cNvSpPr/>
          <p:nvPr/>
        </p:nvSpPr>
        <p:spPr>
          <a:xfrm>
            <a:off x="7861300" y="2622252"/>
            <a:ext cx="971550" cy="279400"/>
          </a:xfrm>
          <a:prstGeom prst="roundRect">
            <a:avLst>
              <a:gd name="adj" fmla="val 9091"/>
            </a:avLst>
          </a:prstGeom>
          <a:solidFill>
            <a:srgbClr val="2B5C8F"/>
          </a:solidFill>
          <a:ln/>
        </p:spPr>
      </p:sp>
      <p:sp>
        <p:nvSpPr>
          <p:cNvPr id="17" name="Text 15"/>
          <p:cNvSpPr/>
          <p:nvPr/>
        </p:nvSpPr>
        <p:spPr>
          <a:xfrm>
            <a:off x="8934450" y="2637532"/>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19.1 %</a:t>
            </a:r>
            <a:endParaRPr lang="en-US" sz="1400" dirty="0"/>
          </a:p>
        </p:txBody>
      </p:sp>
      <p:sp>
        <p:nvSpPr>
          <p:cNvPr id="18" name="Text 16"/>
          <p:cNvSpPr/>
          <p:nvPr/>
        </p:nvSpPr>
        <p:spPr>
          <a:xfrm>
            <a:off x="6299200" y="3153073"/>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Transferencia</a:t>
            </a:r>
            <a:endParaRPr lang="en-US" sz="1400" dirty="0"/>
          </a:p>
        </p:txBody>
      </p:sp>
      <p:sp>
        <p:nvSpPr>
          <p:cNvPr id="19" name="Shape 17"/>
          <p:cNvSpPr/>
          <p:nvPr/>
        </p:nvSpPr>
        <p:spPr>
          <a:xfrm>
            <a:off x="7861300" y="3137793"/>
            <a:ext cx="850900" cy="279400"/>
          </a:xfrm>
          <a:prstGeom prst="roundRect">
            <a:avLst>
              <a:gd name="adj" fmla="val 9091"/>
            </a:avLst>
          </a:prstGeom>
          <a:solidFill>
            <a:srgbClr val="2B5C8F"/>
          </a:solidFill>
          <a:ln/>
        </p:spPr>
      </p:sp>
      <p:sp>
        <p:nvSpPr>
          <p:cNvPr id="20" name="Text 18"/>
          <p:cNvSpPr/>
          <p:nvPr/>
        </p:nvSpPr>
        <p:spPr>
          <a:xfrm>
            <a:off x="8813800" y="3153073"/>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16.7 %</a:t>
            </a:r>
            <a:endParaRPr lang="en-US" sz="1400" dirty="0"/>
          </a:p>
        </p:txBody>
      </p:sp>
      <p:sp>
        <p:nvSpPr>
          <p:cNvPr id="21" name="Text 19"/>
          <p:cNvSpPr/>
          <p:nvPr/>
        </p:nvSpPr>
        <p:spPr>
          <a:xfrm>
            <a:off x="6299200" y="3559473"/>
            <a:ext cx="1511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Tarjeta de crédito</a:t>
            </a:r>
            <a:endParaRPr lang="en-US" sz="1400" dirty="0"/>
          </a:p>
        </p:txBody>
      </p:sp>
      <p:sp>
        <p:nvSpPr>
          <p:cNvPr id="22" name="Shape 20"/>
          <p:cNvSpPr/>
          <p:nvPr/>
        </p:nvSpPr>
        <p:spPr>
          <a:xfrm>
            <a:off x="7861300" y="3544193"/>
            <a:ext cx="774700" cy="279400"/>
          </a:xfrm>
          <a:prstGeom prst="roundRect">
            <a:avLst>
              <a:gd name="adj" fmla="val 9091"/>
            </a:avLst>
          </a:prstGeom>
          <a:solidFill>
            <a:srgbClr val="2B5C8F"/>
          </a:solidFill>
          <a:ln/>
        </p:spPr>
      </p:sp>
      <p:sp>
        <p:nvSpPr>
          <p:cNvPr id="23" name="Text 21"/>
          <p:cNvSpPr/>
          <p:nvPr/>
        </p:nvSpPr>
        <p:spPr>
          <a:xfrm>
            <a:off x="8737600" y="3559473"/>
            <a:ext cx="70306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15.2 %</a:t>
            </a:r>
            <a:endParaRPr lang="en-US" sz="1400" dirty="0"/>
          </a:p>
        </p:txBody>
      </p:sp>
      <p:sp>
        <p:nvSpPr>
          <p:cNvPr id="24" name="Text 22"/>
          <p:cNvSpPr/>
          <p:nvPr/>
        </p:nvSpPr>
        <p:spPr>
          <a:xfrm>
            <a:off x="6299200" y="4077593"/>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Interpretamos:</a:t>
            </a:r>
            <a:r>
              <a:rPr lang="en-US" sz="1400" dirty="0">
                <a:solidFill>
                  <a:srgbClr val="3D4C5C"/>
                </a:solidFill>
                <a:latin typeface="IBM Plex Sans" pitchFamily="34" charset="0"/>
                <a:ea typeface="IBM Plex Sans" pitchFamily="34" charset="-122"/>
                <a:cs typeface="IBM Plex Sans" pitchFamily="34" charset="-120"/>
              </a:rPr>
              <a:t> el pago manual renueva cada mes la decisión de seguir; es una hipótesis, no una causa demostrada.</a:t>
            </a:r>
            <a:endParaRPr lang="en-US" sz="1400" dirty="0"/>
          </a:p>
        </p:txBody>
      </p:sp>
      <p:sp>
        <p:nvSpPr>
          <p:cNvPr id="25" name="Text 23"/>
          <p:cNvSpPr/>
          <p:nvPr/>
        </p:nvSpPr>
        <p:spPr>
          <a:xfrm>
            <a:off x="812800" y="6238280"/>
            <a:ext cx="40178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Asociaciones observadas, no relaciones causales</a:t>
            </a:r>
            <a:endParaRPr lang="en-US" sz="1200" dirty="0"/>
          </a:p>
        </p:txBody>
      </p:sp>
      <p:sp>
        <p:nvSpPr>
          <p:cNvPr id="26" name="Text 24"/>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Calidad de datos y decisiones de preparación</a:t>
            </a:r>
            <a:endParaRPr lang="en-US" sz="3200" dirty="0"/>
          </a:p>
        </p:txBody>
      </p:sp>
      <p:sp>
        <p:nvSpPr>
          <p:cNvPr id="3" name="Shape 1"/>
          <p:cNvSpPr/>
          <p:nvPr/>
        </p:nvSpPr>
        <p:spPr>
          <a:xfrm>
            <a:off x="815975" y="1516955"/>
            <a:ext cx="5175250" cy="1823442"/>
          </a:xfrm>
          <a:prstGeom prst="roundRect">
            <a:avLst>
              <a:gd name="adj" fmla="val 5398"/>
            </a:avLst>
          </a:prstGeom>
          <a:solidFill>
            <a:srgbClr val="FFFFFC"/>
          </a:solidFill>
          <a:ln w="6350">
            <a:solidFill>
              <a:srgbClr val="D8D3C7"/>
            </a:solidFill>
            <a:prstDash val="solid"/>
          </a:ln>
        </p:spPr>
      </p:sp>
      <p:sp>
        <p:nvSpPr>
          <p:cNvPr id="4" name="Text 2"/>
          <p:cNvSpPr/>
          <p:nvPr/>
        </p:nvSpPr>
        <p:spPr>
          <a:xfrm>
            <a:off x="1047750" y="1748730"/>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541B"/>
                </a:solidFill>
                <a:latin typeface="IBM Plex Sans" pitchFamily="34" charset="0"/>
                <a:ea typeface="IBM Plex Sans" pitchFamily="34" charset="-122"/>
                <a:cs typeface="IBM Plex Sans" pitchFamily="34" charset="-120"/>
              </a:rPr>
              <a:t>VALORES FALTANTES</a:t>
            </a:r>
            <a:endParaRPr lang="en-US" sz="1200" dirty="0"/>
          </a:p>
        </p:txBody>
      </p:sp>
      <p:sp>
        <p:nvSpPr>
          <p:cNvPr id="5" name="Text 3"/>
          <p:cNvSpPr/>
          <p:nvPr/>
        </p:nvSpPr>
        <p:spPr>
          <a:xfrm>
            <a:off x="1047750" y="2038251"/>
            <a:ext cx="485305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11 TotalCharges en blanco</a:t>
            </a:r>
            <a:endParaRPr lang="en-US" sz="1500" dirty="0"/>
          </a:p>
        </p:txBody>
      </p:sp>
      <p:sp>
        <p:nvSpPr>
          <p:cNvPr id="6" name="Text 4"/>
          <p:cNvSpPr/>
          <p:nvPr/>
        </p:nvSpPr>
        <p:spPr>
          <a:xfrm>
            <a:off x="1047750" y="2362101"/>
            <a:ext cx="485305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C5C"/>
                </a:solidFill>
                <a:latin typeface="IBM Plex Sans" pitchFamily="34" charset="0"/>
                <a:ea typeface="IBM Plex Sans" pitchFamily="34" charset="-122"/>
                <a:cs typeface="IBM Plex Sans" pitchFamily="34" charset="-120"/>
              </a:rPr>
              <a:t>Todos con antigüedad 0 y sin fuga: clientes sin primer cierre de facturación. Por regla lógica se representan con 0.</a:t>
            </a:r>
            <a:endParaRPr lang="en-US" sz="1400" dirty="0"/>
          </a:p>
        </p:txBody>
      </p:sp>
      <p:sp>
        <p:nvSpPr>
          <p:cNvPr id="7" name="Shape 5"/>
          <p:cNvSpPr/>
          <p:nvPr/>
        </p:nvSpPr>
        <p:spPr>
          <a:xfrm>
            <a:off x="6200775" y="1516955"/>
            <a:ext cx="5175250" cy="1823442"/>
          </a:xfrm>
          <a:prstGeom prst="roundRect">
            <a:avLst>
              <a:gd name="adj" fmla="val 5398"/>
            </a:avLst>
          </a:prstGeom>
          <a:solidFill>
            <a:srgbClr val="FFFFFC"/>
          </a:solidFill>
          <a:ln w="6350">
            <a:solidFill>
              <a:srgbClr val="D8D3C7"/>
            </a:solidFill>
            <a:prstDash val="solid"/>
          </a:ln>
        </p:spPr>
      </p:sp>
      <p:sp>
        <p:nvSpPr>
          <p:cNvPr id="8" name="Text 6"/>
          <p:cNvSpPr/>
          <p:nvPr/>
        </p:nvSpPr>
        <p:spPr>
          <a:xfrm>
            <a:off x="6432550" y="1748730"/>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541B"/>
                </a:solidFill>
                <a:latin typeface="IBM Plex Sans" pitchFamily="34" charset="0"/>
                <a:ea typeface="IBM Plex Sans" pitchFamily="34" charset="-122"/>
                <a:cs typeface="IBM Plex Sans" pitchFamily="34" charset="-120"/>
              </a:rPr>
              <a:t>TIPOS DE DATOS</a:t>
            </a:r>
            <a:endParaRPr lang="en-US" sz="1200" dirty="0"/>
          </a:p>
        </p:txBody>
      </p:sp>
      <p:sp>
        <p:nvSpPr>
          <p:cNvPr id="9" name="Text 7"/>
          <p:cNvSpPr/>
          <p:nvPr/>
        </p:nvSpPr>
        <p:spPr>
          <a:xfrm>
            <a:off x="6432550" y="2038251"/>
            <a:ext cx="485305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Dos columnas mal tipadas</a:t>
            </a:r>
            <a:endParaRPr lang="en-US" sz="1500" dirty="0"/>
          </a:p>
        </p:txBody>
      </p:sp>
      <p:sp>
        <p:nvSpPr>
          <p:cNvPr id="10" name="Text 8"/>
          <p:cNvSpPr/>
          <p:nvPr/>
        </p:nvSpPr>
        <p:spPr>
          <a:xfrm>
            <a:off x="6432550" y="2362101"/>
            <a:ext cx="485305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C5C"/>
                </a:solidFill>
                <a:latin typeface="IBM Plex Sans" pitchFamily="34" charset="0"/>
                <a:ea typeface="IBM Plex Sans" pitchFamily="34" charset="-122"/>
                <a:cs typeface="IBM Plex Sans" pitchFamily="34" charset="-120"/>
              </a:rPr>
              <a:t>TotalCharges llegaba como texto y pasa a numérico. SeniorCitizen llegaba como 0/1 y se trata como categórica.</a:t>
            </a:r>
            <a:endParaRPr lang="en-US" sz="1400" dirty="0"/>
          </a:p>
        </p:txBody>
      </p:sp>
      <p:sp>
        <p:nvSpPr>
          <p:cNvPr id="11" name="Shape 9"/>
          <p:cNvSpPr/>
          <p:nvPr/>
        </p:nvSpPr>
        <p:spPr>
          <a:xfrm>
            <a:off x="815975" y="3549948"/>
            <a:ext cx="5175250" cy="1823442"/>
          </a:xfrm>
          <a:prstGeom prst="roundRect">
            <a:avLst>
              <a:gd name="adj" fmla="val 5398"/>
            </a:avLst>
          </a:prstGeom>
          <a:solidFill>
            <a:srgbClr val="FFFFFC"/>
          </a:solidFill>
          <a:ln w="6350">
            <a:solidFill>
              <a:srgbClr val="D8D3C7"/>
            </a:solidFill>
            <a:prstDash val="solid"/>
          </a:ln>
        </p:spPr>
      </p:sp>
      <p:sp>
        <p:nvSpPr>
          <p:cNvPr id="12" name="Text 10"/>
          <p:cNvSpPr/>
          <p:nvPr/>
        </p:nvSpPr>
        <p:spPr>
          <a:xfrm>
            <a:off x="1047750" y="3781723"/>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541B"/>
                </a:solidFill>
                <a:latin typeface="IBM Plex Sans" pitchFamily="34" charset="0"/>
                <a:ea typeface="IBM Plex Sans" pitchFamily="34" charset="-122"/>
                <a:cs typeface="IBM Plex Sans" pitchFamily="34" charset="-120"/>
              </a:rPr>
              <a:t>DUPLICADOS E IDENTIFICADOR</a:t>
            </a:r>
            <a:endParaRPr lang="en-US" sz="1200" dirty="0"/>
          </a:p>
        </p:txBody>
      </p:sp>
      <p:sp>
        <p:nvSpPr>
          <p:cNvPr id="13" name="Text 11"/>
          <p:cNvSpPr/>
          <p:nvPr/>
        </p:nvSpPr>
        <p:spPr>
          <a:xfrm>
            <a:off x="1047750" y="4071243"/>
            <a:ext cx="485305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0 filas duplicadas</a:t>
            </a:r>
            <a:endParaRPr lang="en-US" sz="1500" dirty="0"/>
          </a:p>
        </p:txBody>
      </p:sp>
      <p:sp>
        <p:nvSpPr>
          <p:cNvPr id="14" name="Text 12"/>
          <p:cNvSpPr/>
          <p:nvPr/>
        </p:nvSpPr>
        <p:spPr>
          <a:xfrm>
            <a:off x="1047750" y="4395093"/>
            <a:ext cx="4853051"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C5C"/>
                </a:solidFill>
                <a:latin typeface="IBM Plex Sans" pitchFamily="34" charset="0"/>
                <a:ea typeface="IBM Plex Sans" pitchFamily="34" charset="-122"/>
                <a:cs typeface="IBM Plex Sans" pitchFamily="34" charset="-120"/>
              </a:rPr>
              <a:t>Tampoco hay identificadores repetidos. customerID se excluye del modelo porque no es una característica predictiva.</a:t>
            </a:r>
            <a:endParaRPr lang="en-US" sz="1400" dirty="0"/>
          </a:p>
        </p:txBody>
      </p:sp>
      <p:sp>
        <p:nvSpPr>
          <p:cNvPr id="15" name="Shape 13"/>
          <p:cNvSpPr/>
          <p:nvPr/>
        </p:nvSpPr>
        <p:spPr>
          <a:xfrm>
            <a:off x="6200775" y="3549948"/>
            <a:ext cx="5175250" cy="1823442"/>
          </a:xfrm>
          <a:prstGeom prst="roundRect">
            <a:avLst>
              <a:gd name="adj" fmla="val 5398"/>
            </a:avLst>
          </a:prstGeom>
          <a:solidFill>
            <a:srgbClr val="FFFFFC"/>
          </a:solidFill>
          <a:ln w="6350">
            <a:solidFill>
              <a:srgbClr val="D8D3C7"/>
            </a:solidFill>
            <a:prstDash val="solid"/>
          </a:ln>
        </p:spPr>
      </p:sp>
      <p:sp>
        <p:nvSpPr>
          <p:cNvPr id="16" name="Text 14"/>
          <p:cNvSpPr/>
          <p:nvPr/>
        </p:nvSpPr>
        <p:spPr>
          <a:xfrm>
            <a:off x="6432550" y="3781723"/>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541B"/>
                </a:solidFill>
                <a:latin typeface="IBM Plex Sans" pitchFamily="34" charset="0"/>
                <a:ea typeface="IBM Plex Sans" pitchFamily="34" charset="-122"/>
                <a:cs typeface="IBM Plex Sans" pitchFamily="34" charset="-120"/>
              </a:rPr>
              <a:t>VALORES EXTREMOS</a:t>
            </a:r>
            <a:endParaRPr lang="en-US" sz="1200" dirty="0"/>
          </a:p>
        </p:txBody>
      </p:sp>
      <p:sp>
        <p:nvSpPr>
          <p:cNvPr id="17" name="Text 15"/>
          <p:cNvSpPr/>
          <p:nvPr/>
        </p:nvSpPr>
        <p:spPr>
          <a:xfrm>
            <a:off x="6432550" y="4071243"/>
            <a:ext cx="485305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Ninguno fuera de los límites IQR</a:t>
            </a:r>
            <a:endParaRPr lang="en-US" sz="1500" dirty="0"/>
          </a:p>
        </p:txBody>
      </p:sp>
      <p:sp>
        <p:nvSpPr>
          <p:cNvPr id="18" name="Text 16"/>
          <p:cNvSpPr/>
          <p:nvPr/>
        </p:nvSpPr>
        <p:spPr>
          <a:xfrm>
            <a:off x="6432550" y="4395093"/>
            <a:ext cx="485305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C5C"/>
                </a:solidFill>
                <a:latin typeface="IBM Plex Sans" pitchFamily="34" charset="0"/>
                <a:ea typeface="IBM Plex Sans" pitchFamily="34" charset="-122"/>
                <a:cs typeface="IBM Plex Sans" pitchFamily="34" charset="-120"/>
              </a:rPr>
              <a:t>Se revisaron tenure, MonthlyCharges y TotalCharges. No se elimina ni se recorta ningún registro.</a:t>
            </a:r>
            <a:endParaRPr lang="en-US" sz="1400" dirty="0"/>
          </a:p>
        </p:txBody>
      </p:sp>
      <p:sp>
        <p:nvSpPr>
          <p:cNvPr id="19" name="Text 17"/>
          <p:cNvSpPr/>
          <p:nvPr/>
        </p:nvSpPr>
        <p:spPr>
          <a:xfrm>
            <a:off x="812800" y="6238280"/>
            <a:ext cx="31873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Fuente: cuaderno 01_eda_exploratorio</a:t>
            </a:r>
            <a:endParaRPr lang="en-US" sz="1200" dirty="0"/>
          </a:p>
        </p:txBody>
      </p:sp>
      <p:sp>
        <p:nvSpPr>
          <p:cNvPr id="20" name="Text 18"/>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Separación de datos y flujo reproducible</a:t>
            </a:r>
            <a:endParaRPr lang="en-US" sz="3200" dirty="0"/>
          </a:p>
        </p:txBody>
      </p:sp>
      <p:sp>
        <p:nvSpPr>
          <p:cNvPr id="3" name="Shape 1"/>
          <p:cNvSpPr/>
          <p:nvPr/>
        </p:nvSpPr>
        <p:spPr>
          <a:xfrm>
            <a:off x="812800" y="1513780"/>
            <a:ext cx="2095500" cy="1080691"/>
          </a:xfrm>
          <a:prstGeom prst="roundRect">
            <a:avLst>
              <a:gd name="adj" fmla="val 9401"/>
            </a:avLst>
          </a:prstGeom>
          <a:solidFill>
            <a:srgbClr val="12263A"/>
          </a:solidFill>
          <a:ln/>
        </p:spPr>
      </p:sp>
      <p:sp>
        <p:nvSpPr>
          <p:cNvPr id="4" name="Text 2"/>
          <p:cNvSpPr/>
          <p:nvPr/>
        </p:nvSpPr>
        <p:spPr>
          <a:xfrm>
            <a:off x="990600" y="1691580"/>
            <a:ext cx="179209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7F5F0"/>
                </a:solidFill>
                <a:latin typeface="IBM Plex Sans" pitchFamily="34" charset="0"/>
                <a:ea typeface="IBM Plex Sans" pitchFamily="34" charset="-122"/>
                <a:cs typeface="IBM Plex Sans" pitchFamily="34" charset="-120"/>
              </a:rPr>
              <a:t>Train · 70 %</a:t>
            </a:r>
            <a:endParaRPr lang="en-US" sz="1500" dirty="0"/>
          </a:p>
        </p:txBody>
      </p:sp>
      <p:sp>
        <p:nvSpPr>
          <p:cNvPr id="5" name="Text 3"/>
          <p:cNvSpPr/>
          <p:nvPr/>
        </p:nvSpPr>
        <p:spPr>
          <a:xfrm>
            <a:off x="990600" y="199003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2"/>
                </a:solidFill>
                <a:latin typeface="IBM Plex Sans" pitchFamily="34" charset="0"/>
                <a:ea typeface="IBM Plex Sans" pitchFamily="34" charset="-122"/>
                <a:cs typeface="IBM Plex Sans" pitchFamily="34" charset="-120"/>
              </a:rPr>
              <a:t>4,930 clientes; ajusta pipeline y modelos</a:t>
            </a:r>
            <a:endParaRPr lang="en-US" sz="1200" dirty="0"/>
          </a:p>
        </p:txBody>
      </p:sp>
      <p:pic>
        <p:nvPicPr>
          <p:cNvPr id="6" name="Image 0" descr="connector">    </p:cNvPr>
          <p:cNvPicPr>
            <a:picLocks noChangeAspect="1"/>
          </p:cNvPicPr>
          <p:nvPr/>
        </p:nvPicPr>
        <p:blipFill>
          <a:blip r:embed="rId1"/>
          <a:srcRect l="0" r="0" t="0" b="0"/>
          <a:stretch/>
        </p:blipFill>
        <p:spPr>
          <a:xfrm>
            <a:off x="3009900" y="2016026"/>
            <a:ext cx="457200" cy="76200"/>
          </a:xfrm>
          <a:prstGeom prst="rect">
            <a:avLst/>
          </a:prstGeom>
        </p:spPr>
      </p:pic>
      <p:sp>
        <p:nvSpPr>
          <p:cNvPr id="7" name="Shape 4"/>
          <p:cNvSpPr/>
          <p:nvPr/>
        </p:nvSpPr>
        <p:spPr>
          <a:xfrm>
            <a:off x="3568700" y="1513780"/>
            <a:ext cx="2095500" cy="1080691"/>
          </a:xfrm>
          <a:prstGeom prst="roundRect">
            <a:avLst>
              <a:gd name="adj" fmla="val 9401"/>
            </a:avLst>
          </a:prstGeom>
          <a:solidFill>
            <a:srgbClr val="12263A"/>
          </a:solidFill>
          <a:ln/>
        </p:spPr>
      </p:sp>
      <p:sp>
        <p:nvSpPr>
          <p:cNvPr id="8" name="Text 5"/>
          <p:cNvSpPr/>
          <p:nvPr/>
        </p:nvSpPr>
        <p:spPr>
          <a:xfrm>
            <a:off x="3746500" y="1691580"/>
            <a:ext cx="179209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7F5F0"/>
                </a:solidFill>
                <a:latin typeface="IBM Plex Sans" pitchFamily="34" charset="0"/>
                <a:ea typeface="IBM Plex Sans" pitchFamily="34" charset="-122"/>
                <a:cs typeface="IBM Plex Sans" pitchFamily="34" charset="-120"/>
              </a:rPr>
              <a:t>Validation · 15 %</a:t>
            </a:r>
            <a:endParaRPr lang="en-US" sz="1500" dirty="0"/>
          </a:p>
        </p:txBody>
      </p:sp>
      <p:sp>
        <p:nvSpPr>
          <p:cNvPr id="9" name="Text 6"/>
          <p:cNvSpPr/>
          <p:nvPr/>
        </p:nvSpPr>
        <p:spPr>
          <a:xfrm>
            <a:off x="3746500" y="199003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2"/>
                </a:solidFill>
                <a:latin typeface="IBM Plex Sans" pitchFamily="34" charset="0"/>
                <a:ea typeface="IBM Plex Sans" pitchFamily="34" charset="-122"/>
                <a:cs typeface="IBM Plex Sans" pitchFamily="34" charset="-120"/>
              </a:rPr>
              <a:t>1,056 clientes; compara y selecciona</a:t>
            </a:r>
            <a:endParaRPr lang="en-US" sz="1200" dirty="0"/>
          </a:p>
        </p:txBody>
      </p:sp>
      <p:pic>
        <p:nvPicPr>
          <p:cNvPr id="10" name="Image 1" descr="connector">    </p:cNvPr>
          <p:cNvPicPr>
            <a:picLocks noChangeAspect="1"/>
          </p:cNvPicPr>
          <p:nvPr/>
        </p:nvPicPr>
        <p:blipFill>
          <a:blip r:embed="rId2"/>
          <a:srcRect l="0" r="0" t="0" b="0"/>
          <a:stretch/>
        </p:blipFill>
        <p:spPr>
          <a:xfrm>
            <a:off x="5765800" y="2016026"/>
            <a:ext cx="457200" cy="76200"/>
          </a:xfrm>
          <a:prstGeom prst="rect">
            <a:avLst/>
          </a:prstGeom>
        </p:spPr>
      </p:pic>
      <p:sp>
        <p:nvSpPr>
          <p:cNvPr id="11" name="Shape 7"/>
          <p:cNvSpPr/>
          <p:nvPr/>
        </p:nvSpPr>
        <p:spPr>
          <a:xfrm>
            <a:off x="6324600" y="1513780"/>
            <a:ext cx="2095500" cy="1080691"/>
          </a:xfrm>
          <a:prstGeom prst="roundRect">
            <a:avLst>
              <a:gd name="adj" fmla="val 9401"/>
            </a:avLst>
          </a:prstGeom>
          <a:solidFill>
            <a:srgbClr val="2B5C8F"/>
          </a:solidFill>
          <a:ln/>
        </p:spPr>
      </p:sp>
      <p:sp>
        <p:nvSpPr>
          <p:cNvPr id="12" name="Text 8"/>
          <p:cNvSpPr/>
          <p:nvPr/>
        </p:nvSpPr>
        <p:spPr>
          <a:xfrm>
            <a:off x="6502400" y="1691580"/>
            <a:ext cx="179209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7F5F0"/>
                </a:solidFill>
                <a:latin typeface="IBM Plex Sans" pitchFamily="34" charset="0"/>
                <a:ea typeface="IBM Plex Sans" pitchFamily="34" charset="-122"/>
                <a:cs typeface="IBM Plex Sans" pitchFamily="34" charset="-120"/>
              </a:rPr>
              <a:t>Reentrenamiento</a:t>
            </a:r>
            <a:endParaRPr lang="en-US" sz="1500" dirty="0"/>
          </a:p>
        </p:txBody>
      </p:sp>
      <p:sp>
        <p:nvSpPr>
          <p:cNvPr id="13" name="Text 9"/>
          <p:cNvSpPr/>
          <p:nvPr/>
        </p:nvSpPr>
        <p:spPr>
          <a:xfrm>
            <a:off x="6502400" y="199003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5"/>
                </a:solidFill>
                <a:latin typeface="IBM Plex Sans" pitchFamily="34" charset="0"/>
                <a:ea typeface="IBM Plex Sans" pitchFamily="34" charset="-122"/>
                <a:cs typeface="IBM Plex Sans" pitchFamily="34" charset="-120"/>
              </a:rPr>
              <a:t>Train + Validation; solo el modelo elegido</a:t>
            </a:r>
            <a:endParaRPr lang="en-US" sz="1200" dirty="0"/>
          </a:p>
        </p:txBody>
      </p:sp>
      <p:pic>
        <p:nvPicPr>
          <p:cNvPr id="14" name="Image 2" descr="connector">    </p:cNvPr>
          <p:cNvPicPr>
            <a:picLocks noChangeAspect="1"/>
          </p:cNvPicPr>
          <p:nvPr/>
        </p:nvPicPr>
        <p:blipFill>
          <a:blip r:embed="rId3"/>
          <a:srcRect l="0" r="0" t="0" b="0"/>
          <a:stretch/>
        </p:blipFill>
        <p:spPr>
          <a:xfrm>
            <a:off x="8521700" y="2016026"/>
            <a:ext cx="457200" cy="76200"/>
          </a:xfrm>
          <a:prstGeom prst="rect">
            <a:avLst/>
          </a:prstGeom>
        </p:spPr>
      </p:pic>
      <p:sp>
        <p:nvSpPr>
          <p:cNvPr id="15" name="Shape 10"/>
          <p:cNvSpPr/>
          <p:nvPr/>
        </p:nvSpPr>
        <p:spPr>
          <a:xfrm>
            <a:off x="9080500" y="1513780"/>
            <a:ext cx="2095500" cy="1080691"/>
          </a:xfrm>
          <a:prstGeom prst="roundRect">
            <a:avLst>
              <a:gd name="adj" fmla="val 9401"/>
            </a:avLst>
          </a:prstGeom>
          <a:solidFill>
            <a:srgbClr val="2B5C8F"/>
          </a:solidFill>
          <a:ln/>
        </p:spPr>
      </p:sp>
      <p:sp>
        <p:nvSpPr>
          <p:cNvPr id="16" name="Text 11"/>
          <p:cNvSpPr/>
          <p:nvPr/>
        </p:nvSpPr>
        <p:spPr>
          <a:xfrm>
            <a:off x="9258300" y="1691580"/>
            <a:ext cx="1792097"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7F5F0"/>
                </a:solidFill>
                <a:latin typeface="IBM Plex Sans" pitchFamily="34" charset="0"/>
                <a:ea typeface="IBM Plex Sans" pitchFamily="34" charset="-122"/>
                <a:cs typeface="IBM Plex Sans" pitchFamily="34" charset="-120"/>
              </a:rPr>
              <a:t>Test · 15 %</a:t>
            </a:r>
            <a:endParaRPr lang="en-US" sz="1500" dirty="0"/>
          </a:p>
        </p:txBody>
      </p:sp>
      <p:sp>
        <p:nvSpPr>
          <p:cNvPr id="17" name="Text 12"/>
          <p:cNvSpPr/>
          <p:nvPr/>
        </p:nvSpPr>
        <p:spPr>
          <a:xfrm>
            <a:off x="9258300" y="1990030"/>
            <a:ext cx="179209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CF5"/>
                </a:solidFill>
                <a:latin typeface="IBM Plex Sans" pitchFamily="34" charset="0"/>
                <a:ea typeface="IBM Plex Sans" pitchFamily="34" charset="-122"/>
                <a:cs typeface="IBM Plex Sans" pitchFamily="34" charset="-120"/>
              </a:rPr>
              <a:t>1,057 clientes; una sola evaluación final</a:t>
            </a:r>
            <a:endParaRPr lang="en-US" sz="1200" dirty="0"/>
          </a:p>
        </p:txBody>
      </p:sp>
      <p:sp>
        <p:nvSpPr>
          <p:cNvPr id="18" name="Shape 13"/>
          <p:cNvSpPr/>
          <p:nvPr/>
        </p:nvSpPr>
        <p:spPr>
          <a:xfrm>
            <a:off x="815975" y="2851646"/>
            <a:ext cx="5175250" cy="1285081"/>
          </a:xfrm>
          <a:prstGeom prst="roundRect">
            <a:avLst>
              <a:gd name="adj" fmla="val 7659"/>
            </a:avLst>
          </a:prstGeom>
          <a:solidFill>
            <a:srgbClr val="FFFFFC"/>
          </a:solidFill>
          <a:ln w="6350">
            <a:solidFill>
              <a:srgbClr val="D8D3C7"/>
            </a:solidFill>
            <a:prstDash val="solid"/>
          </a:ln>
        </p:spPr>
      </p:sp>
      <p:sp>
        <p:nvSpPr>
          <p:cNvPr id="19" name="Text 14"/>
          <p:cNvSpPr/>
          <p:nvPr/>
        </p:nvSpPr>
        <p:spPr>
          <a:xfrm>
            <a:off x="1047750" y="3083421"/>
            <a:ext cx="485305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3 variables numéricas</a:t>
            </a:r>
            <a:endParaRPr lang="en-US" sz="1500" dirty="0"/>
          </a:p>
        </p:txBody>
      </p:sp>
      <p:sp>
        <p:nvSpPr>
          <p:cNvPr id="20" name="Text 15"/>
          <p:cNvSpPr/>
          <p:nvPr/>
        </p:nvSpPr>
        <p:spPr>
          <a:xfrm>
            <a:off x="1047750" y="3407271"/>
            <a:ext cx="485305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C5C"/>
                </a:solidFill>
                <a:latin typeface="IBM Plex Sans" pitchFamily="34" charset="0"/>
                <a:ea typeface="IBM Plex Sans" pitchFamily="34" charset="-122"/>
                <a:cs typeface="IBM Plex Sans" pitchFamily="34" charset="-120"/>
              </a:rPr>
              <a:t>Imputación por mediana y StandardScaler sobre tenure, MonthlyCharges y TotalCharges.</a:t>
            </a:r>
            <a:endParaRPr lang="en-US" sz="1400" dirty="0"/>
          </a:p>
        </p:txBody>
      </p:sp>
      <p:sp>
        <p:nvSpPr>
          <p:cNvPr id="21" name="Shape 16"/>
          <p:cNvSpPr/>
          <p:nvPr/>
        </p:nvSpPr>
        <p:spPr>
          <a:xfrm>
            <a:off x="6200775" y="2851646"/>
            <a:ext cx="5175250" cy="1285081"/>
          </a:xfrm>
          <a:prstGeom prst="roundRect">
            <a:avLst>
              <a:gd name="adj" fmla="val 7659"/>
            </a:avLst>
          </a:prstGeom>
          <a:solidFill>
            <a:srgbClr val="FFFFFC"/>
          </a:solidFill>
          <a:ln w="6350">
            <a:solidFill>
              <a:srgbClr val="D8D3C7"/>
            </a:solidFill>
            <a:prstDash val="solid"/>
          </a:ln>
        </p:spPr>
      </p:sp>
      <p:sp>
        <p:nvSpPr>
          <p:cNvPr id="22" name="Text 17"/>
          <p:cNvSpPr/>
          <p:nvPr/>
        </p:nvSpPr>
        <p:spPr>
          <a:xfrm>
            <a:off x="6432550" y="3083421"/>
            <a:ext cx="485305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2263A"/>
                </a:solidFill>
                <a:latin typeface="IBM Plex Sans" pitchFamily="34" charset="0"/>
                <a:ea typeface="IBM Plex Sans" pitchFamily="34" charset="-122"/>
                <a:cs typeface="IBM Plex Sans" pitchFamily="34" charset="-120"/>
              </a:rPr>
              <a:t>16 variables categóricas</a:t>
            </a:r>
            <a:endParaRPr lang="en-US" sz="1500" dirty="0"/>
          </a:p>
        </p:txBody>
      </p:sp>
      <p:sp>
        <p:nvSpPr>
          <p:cNvPr id="23" name="Text 18"/>
          <p:cNvSpPr/>
          <p:nvPr/>
        </p:nvSpPr>
        <p:spPr>
          <a:xfrm>
            <a:off x="6432550" y="3407271"/>
            <a:ext cx="485305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C5C"/>
                </a:solidFill>
                <a:latin typeface="IBM Plex Sans" pitchFamily="34" charset="0"/>
                <a:ea typeface="IBM Plex Sans" pitchFamily="34" charset="-122"/>
                <a:cs typeface="IBM Plex Sans" pitchFamily="34" charset="-120"/>
              </a:rPr>
              <a:t>Imputación por moda y OneHotEncoder, dentro de un ColumnTransformer.</a:t>
            </a:r>
            <a:endParaRPr lang="en-US" sz="1400" dirty="0"/>
          </a:p>
        </p:txBody>
      </p:sp>
      <p:sp>
        <p:nvSpPr>
          <p:cNvPr id="24" name="Text 19"/>
          <p:cNvSpPr/>
          <p:nvPr/>
        </p:nvSpPr>
        <p:spPr>
          <a:xfrm>
            <a:off x="812800" y="4393902"/>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Contra el data leakage:</a:t>
            </a:r>
            <a:r>
              <a:rPr lang="en-US" sz="1400" dirty="0">
                <a:solidFill>
                  <a:srgbClr val="3D4C5C"/>
                </a:solidFill>
                <a:latin typeface="IBM Plex Sans" pitchFamily="34" charset="0"/>
                <a:ea typeface="IBM Plex Sans" pitchFamily="34" charset="-122"/>
                <a:cs typeface="IBM Plex Sans" pitchFamily="34" charset="-120"/>
              </a:rPr>
              <a:t> partición estratificada con semilla 42; medianas, escalas y categorías se aprenden solo con los datos de entrenamiento. Validation decide; Test no participa en la selección.</a:t>
            </a:r>
            <a:endParaRPr lang="en-US" sz="1400" dirty="0"/>
          </a:p>
        </p:txBody>
      </p:sp>
      <p:sp>
        <p:nvSpPr>
          <p:cNvPr id="25" name="Text 20"/>
          <p:cNvSpPr/>
          <p:nvPr/>
        </p:nvSpPr>
        <p:spPr>
          <a:xfrm>
            <a:off x="812800" y="6238280"/>
            <a:ext cx="38027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Reproducible con: python -m src.train_models</a:t>
            </a:r>
            <a:endParaRPr lang="en-US" sz="1200" dirty="0"/>
          </a:p>
        </p:txBody>
      </p:sp>
      <p:sp>
        <p:nvSpPr>
          <p:cNvPr id="26" name="Text 21"/>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Selección del modelo en Validation</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10553700" cy="1655564"/>
        </p:xfrm>
        <a:graphic>
          <a:graphicData uri="http://schemas.openxmlformats.org/drawingml/2006/table">
            <a:tbl>
              <a:tblPr/>
              <a:tblGrid>
                <a:gridCol w="3693795"/>
                <a:gridCol w="1371981"/>
                <a:gridCol w="1371981"/>
                <a:gridCol w="1371981"/>
                <a:gridCol w="1371981"/>
                <a:gridCol w="1371981"/>
              </a:tblGrid>
              <a:tr h="634802">
                <a:tc>
                  <a:txBody>
                    <a:bodyPr/>
                    <a:lstStyle/>
                    <a:p>
                      <a:pP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Modelo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PR-AUC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ROC-AUC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Recall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Precisión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Valor simulado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Regresión logística balanceada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0.6313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0.8448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81.4 %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50.7 %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+$42,700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634802">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Random Forest balanceado, profundidad 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0.6327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0.8417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75.7 %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54.6 %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+$31,400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r>
            </a:tbl>
          </a:graphicData>
        </a:graphic>
      </p:graphicFrame>
      <p:sp>
        <p:nvSpPr>
          <p:cNvPr id="4" name="Text 1"/>
          <p:cNvSpPr/>
          <p:nvPr/>
        </p:nvSpPr>
        <p:spPr>
          <a:xfrm>
            <a:off x="812800" y="3436045"/>
            <a:ext cx="334873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Criterio de selección:</a:t>
            </a:r>
            <a:r>
              <a:rPr lang="en-US" sz="1400" dirty="0">
                <a:solidFill>
                  <a:srgbClr val="3D4C5C"/>
                </a:solidFill>
                <a:latin typeface="IBM Plex Sans" pitchFamily="34" charset="0"/>
                <a:ea typeface="IBM Plex Sans" pitchFamily="34" charset="-122"/>
                <a:cs typeface="IBM Plex Sans" pitchFamily="34" charset="-120"/>
              </a:rPr>
              <a:t> mayor PR-AUC en Validation, porque la clase de interés es minoritaria.</a:t>
            </a:r>
            <a:endParaRPr lang="en-US" sz="1400" dirty="0"/>
          </a:p>
        </p:txBody>
      </p:sp>
      <p:sp>
        <p:nvSpPr>
          <p:cNvPr id="5" name="Text 2"/>
          <p:cNvSpPr/>
          <p:nvPr/>
        </p:nvSpPr>
        <p:spPr>
          <a:xfrm>
            <a:off x="4470400" y="3436045"/>
            <a:ext cx="334873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Candidato preliminar:</a:t>
            </a:r>
            <a:r>
              <a:rPr lang="en-US" sz="1400" dirty="0">
                <a:solidFill>
                  <a:srgbClr val="3D4C5C"/>
                </a:solidFill>
                <a:latin typeface="IBM Plex Sans" pitchFamily="34" charset="0"/>
                <a:ea typeface="IBM Plex Sans" pitchFamily="34" charset="-122"/>
                <a:cs typeface="IBM Plex Sans" pitchFamily="34" charset="-120"/>
              </a:rPr>
              <a:t> Random Forest, por una ventaja de 0.0014 que no es concluyente.</a:t>
            </a:r>
            <a:endParaRPr lang="en-US" sz="1400" dirty="0"/>
          </a:p>
        </p:txBody>
      </p:sp>
      <p:sp>
        <p:nvSpPr>
          <p:cNvPr id="6" name="Text 3"/>
          <p:cNvSpPr/>
          <p:nvPr/>
        </p:nvSpPr>
        <p:spPr>
          <a:xfrm>
            <a:off x="8128000" y="3436045"/>
            <a:ext cx="334873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Lectura crítica:</a:t>
            </a:r>
            <a:r>
              <a:rPr lang="en-US" sz="1400" dirty="0">
                <a:solidFill>
                  <a:srgbClr val="3D4C5C"/>
                </a:solidFill>
                <a:latin typeface="IBM Plex Sans" pitchFamily="34" charset="0"/>
                <a:ea typeface="IBM Plex Sans" pitchFamily="34" charset="-122"/>
                <a:cs typeface="IBM Plex Sans" pitchFamily="34" charset="-120"/>
              </a:rPr>
              <a:t> la regresión logística logra mayor recall y mayor valor simulado.</a:t>
            </a:r>
            <a:endParaRPr lang="en-US" sz="1400" dirty="0"/>
          </a:p>
        </p:txBody>
      </p:sp>
      <p:sp>
        <p:nvSpPr>
          <p:cNvPr id="7" name="Text 4"/>
          <p:cNvSpPr/>
          <p:nvPr/>
        </p:nvSpPr>
        <p:spPr>
          <a:xfrm>
            <a:off x="812800" y="6238280"/>
            <a:ext cx="62924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Validation: 1,056 clientes · umbral 0.50 · fila resaltada: modelo seleccionado</a:t>
            </a:r>
            <a:endParaRPr lang="en-US" sz="1200" dirty="0"/>
          </a:p>
        </p:txBody>
      </p:sp>
      <p:sp>
        <p:nvSpPr>
          <p:cNvPr id="8" name="Text 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Evaluación final en Test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26480"/>
          <a:ext cx="10553700" cy="1543844"/>
        </p:xfrm>
        <a:graphic>
          <a:graphicData uri="http://schemas.openxmlformats.org/drawingml/2006/table">
            <a:tbl>
              <a:tblPr/>
              <a:tblGrid>
                <a:gridCol w="4221480"/>
                <a:gridCol w="1583055"/>
                <a:gridCol w="1583055"/>
                <a:gridCol w="1583055"/>
                <a:gridCol w="1583055"/>
              </a:tblGrid>
              <a:tr h="385961">
                <a:tc>
                  <a:txBody>
                    <a:bodyPr/>
                    <a:lstStyle/>
                    <a:p>
                      <a:pP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Alternativa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Recall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Precisión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c>
                  <a:txBody>
                    <a:bodyPr/>
                    <a:lstStyle/>
                    <a:p>
                      <a:pPr algn="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PR-AUC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22231"/>
                      </a:solidFill>
                      <a:prstDash val="solid"/>
                      <a:round/>
                      <a:headEnd type="none" w="med" len="med"/>
                      <a:tailEnd type="none" w="med" len="med"/>
                    </a:lnL>
                    <a:lnR w="12700" cap="flat" cmpd="sng" algn="ctr">
                      <a:solidFill>
                        <a:srgbClr val="1222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22231"/>
                      </a:solidFill>
                      <a:prstDash val="solid"/>
                      <a:round/>
                      <a:headEnd type="none" w="med" len="med"/>
                      <a:tailEnd type="none" w="med" len="med"/>
                    </a:lnB>
                    <a:solidFill>
                      <a:srgbClr val="12263A"/>
                    </a:solidFill>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Baseline trivial (clase mayoritaria)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73.4 %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0.0 %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0.266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222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Baseline heurístico (mensual y antigüedad ≤ 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76.3 %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43.8 %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57.2 %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0.400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Random Forest seleccionado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78.3 %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70.5 %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57.6 %</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c>
                  <a:txBody>
                    <a:bodyPr/>
                    <a:lstStyle/>
                    <a:p>
                      <a:pPr algn="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0.670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0B9C1"/>
                      </a:solidFill>
                      <a:prstDash val="solid"/>
                      <a:round/>
                      <a:headEnd type="none" w="med" len="med"/>
                      <a:tailEnd type="none" w="med" len="med"/>
                    </a:lnL>
                    <a:lnR w="12700" cap="flat" cmpd="sng" algn="ctr">
                      <a:solidFill>
                        <a:srgbClr val="B0B9C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0B9C1"/>
                      </a:solidFill>
                      <a:prstDash val="solid"/>
                      <a:round/>
                      <a:headEnd type="none" w="med" len="med"/>
                      <a:tailEnd type="none" w="med" len="med"/>
                    </a:lnB>
                    <a:solidFill>
                      <a:srgbClr val="DCE7F2"/>
                    </a:solidFill>
                  </a:tcPr>
                </a:tc>
              </a:tr>
            </a:tbl>
          </a:graphicData>
        </a:graphic>
      </p:graphicFrame>
      <p:sp>
        <p:nvSpPr>
          <p:cNvPr id="4" name="Text 1"/>
          <p:cNvSpPr/>
          <p:nvPr/>
        </p:nvSpPr>
        <p:spPr>
          <a:xfrm>
            <a:off x="812800" y="3324324"/>
            <a:ext cx="334873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Supera a ambos baselines:</a:t>
            </a:r>
            <a:r>
              <a:rPr lang="en-US" sz="1400" dirty="0">
                <a:solidFill>
                  <a:srgbClr val="3D4C5C"/>
                </a:solidFill>
                <a:latin typeface="IBM Plex Sans" pitchFamily="34" charset="0"/>
                <a:ea typeface="IBM Plex Sans" pitchFamily="34" charset="-122"/>
                <a:cs typeface="IBM Plex Sans" pitchFamily="34" charset="-120"/>
              </a:rPr>
              <a:t> detecta 198 de las 281 fugas; la regla heurística detecta 123.</a:t>
            </a:r>
            <a:endParaRPr lang="en-US" sz="1400" dirty="0"/>
          </a:p>
        </p:txBody>
      </p:sp>
      <p:sp>
        <p:nvSpPr>
          <p:cNvPr id="5" name="Text 2"/>
          <p:cNvSpPr/>
          <p:nvPr/>
        </p:nvSpPr>
        <p:spPr>
          <a:xfrm>
            <a:off x="4470400" y="3324324"/>
            <a:ext cx="334873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Meta de PR-AUC cumplida:</a:t>
            </a:r>
            <a:r>
              <a:rPr lang="en-US" sz="1400" dirty="0">
                <a:solidFill>
                  <a:srgbClr val="3D4C5C"/>
                </a:solidFill>
                <a:latin typeface="IBM Plex Sans" pitchFamily="34" charset="0"/>
                <a:ea typeface="IBM Plex Sans" pitchFamily="34" charset="-122"/>
                <a:cs typeface="IBM Plex Sans" pitchFamily="34" charset="-120"/>
              </a:rPr>
              <a:t> 0.670 frente a 0.60, con ROC-AUC de 0.840.</a:t>
            </a:r>
            <a:endParaRPr lang="en-US" sz="1400" dirty="0"/>
          </a:p>
        </p:txBody>
      </p:sp>
      <p:sp>
        <p:nvSpPr>
          <p:cNvPr id="6" name="Text 3"/>
          <p:cNvSpPr/>
          <p:nvPr/>
        </p:nvSpPr>
        <p:spPr>
          <a:xfrm>
            <a:off x="8128000" y="3324324"/>
            <a:ext cx="3348736" cy="771922"/>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C5C"/>
                </a:solidFill>
                <a:latin typeface="IBM Plex Sans" pitchFamily="34" charset="0"/>
                <a:ea typeface="IBM Plex Sans" pitchFamily="34" charset="-122"/>
                <a:cs typeface="IBM Plex Sans" pitchFamily="34" charset="-120"/>
              </a:rPr>
              <a:t>Meta de recall no cumplida:</a:t>
            </a:r>
            <a:r>
              <a:rPr lang="en-US" sz="1400" dirty="0">
                <a:solidFill>
                  <a:srgbClr val="3D4C5C"/>
                </a:solidFill>
                <a:latin typeface="IBM Plex Sans" pitchFamily="34" charset="0"/>
                <a:ea typeface="IBM Plex Sans" pitchFamily="34" charset="-122"/>
                <a:cs typeface="IBM Plex Sans" pitchFamily="34" charset="-120"/>
              </a:rPr>
              <a:t> 0.705 frente a 0.75; quedan 83 fugas sin detectar.</a:t>
            </a:r>
            <a:endParaRPr lang="en-US" sz="1400" dirty="0"/>
          </a:p>
        </p:txBody>
      </p:sp>
      <p:sp>
        <p:nvSpPr>
          <p:cNvPr id="7" name="Text 4"/>
          <p:cNvSpPr/>
          <p:nvPr/>
        </p:nvSpPr>
        <p:spPr>
          <a:xfrm>
            <a:off x="812800" y="6238280"/>
            <a:ext cx="60263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Test: 1,057 clientes · matriz de confusión: TN 630, FP 146, FN 83, TP 198</a:t>
            </a:r>
            <a:endParaRPr lang="en-US" sz="1200" dirty="0"/>
          </a:p>
        </p:txBody>
      </p:sp>
      <p:sp>
        <p:nvSpPr>
          <p:cNvPr id="8" name="Text 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63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Domine" pitchFamily="18" charset="0"/>
                <a:ea typeface="Domine" pitchFamily="18" charset="-122"/>
                <a:cs typeface="Domine" pitchFamily="18" charset="-120"/>
              </a:rPr>
              <a:t>De la pérdida a la utilidad simulada</a:t>
            </a:r>
            <a:endParaRPr lang="en-US" sz="3200" dirty="0"/>
          </a:p>
        </p:txBody>
      </p:sp>
      <p:sp>
        <p:nvSpPr>
          <p:cNvPr id="3" name="Text 1"/>
          <p:cNvSpPr/>
          <p:nvPr/>
        </p:nvSpPr>
        <p:spPr>
          <a:xfrm>
            <a:off x="812800" y="151378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6E2"/>
                </a:solidFill>
                <a:latin typeface="IBM Plex Sans" pitchFamily="34" charset="0"/>
                <a:ea typeface="IBM Plex Sans" pitchFamily="34" charset="-122"/>
                <a:cs typeface="IBM Plex Sans" pitchFamily="34" charset="-120"/>
              </a:rPr>
              <a:t>Valor económico neto simulado sobre los 1,057 clientes de Test, en dólares</a:t>
            </a:r>
            <a:endParaRPr lang="en-US" sz="1500" dirty="0"/>
          </a:p>
        </p:txBody>
      </p:sp>
      <p:sp>
        <p:nvSpPr>
          <p:cNvPr id="4" name="Text 2"/>
          <p:cNvSpPr/>
          <p:nvPr/>
        </p:nvSpPr>
        <p:spPr>
          <a:xfrm>
            <a:off x="812800" y="2164060"/>
            <a:ext cx="28778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0"/>
                </a:solidFill>
                <a:latin typeface="IBM Plex Sans" pitchFamily="34" charset="0"/>
                <a:ea typeface="IBM Plex Sans" pitchFamily="34" charset="-122"/>
                <a:cs typeface="IBM Plex Sans" pitchFamily="34" charset="-120"/>
              </a:rPr>
              <a:t>Baseline trivial</a:t>
            </a:r>
            <a:endParaRPr lang="en-US" sz="1400" dirty="0"/>
          </a:p>
        </p:txBody>
      </p:sp>
      <p:sp>
        <p:nvSpPr>
          <p:cNvPr id="5" name="Text 3"/>
          <p:cNvSpPr/>
          <p:nvPr/>
        </p:nvSpPr>
        <p:spPr>
          <a:xfrm>
            <a:off x="3949799" y="2164060"/>
            <a:ext cx="90160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−140,500</a:t>
            </a:r>
            <a:endParaRPr lang="en-US" sz="1400" dirty="0"/>
          </a:p>
        </p:txBody>
      </p:sp>
      <p:sp>
        <p:nvSpPr>
          <p:cNvPr id="6" name="Shape 4"/>
          <p:cNvSpPr/>
          <p:nvPr/>
        </p:nvSpPr>
        <p:spPr>
          <a:xfrm>
            <a:off x="4851400" y="2110680"/>
            <a:ext cx="2794000" cy="355600"/>
          </a:xfrm>
          <a:prstGeom prst="roundRect">
            <a:avLst>
              <a:gd name="adj" fmla="val 7143"/>
            </a:avLst>
          </a:prstGeom>
          <a:solidFill>
            <a:srgbClr val="F0A070"/>
          </a:solidFill>
          <a:ln/>
        </p:spPr>
      </p:sp>
      <p:sp>
        <p:nvSpPr>
          <p:cNvPr id="7" name="Shape 5"/>
          <p:cNvSpPr/>
          <p:nvPr/>
        </p:nvSpPr>
        <p:spPr>
          <a:xfrm>
            <a:off x="7747000" y="2034480"/>
            <a:ext cx="12700" cy="508000"/>
          </a:xfrm>
          <a:prstGeom prst="rect">
            <a:avLst/>
          </a:prstGeom>
          <a:solidFill>
            <a:srgbClr val="C9D6E2"/>
          </a:solidFill>
          <a:ln/>
        </p:spPr>
      </p:sp>
      <p:sp>
        <p:nvSpPr>
          <p:cNvPr id="8" name="Text 6"/>
          <p:cNvSpPr/>
          <p:nvPr/>
        </p:nvSpPr>
        <p:spPr>
          <a:xfrm>
            <a:off x="812800" y="2849860"/>
            <a:ext cx="28778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0"/>
                </a:solidFill>
                <a:latin typeface="IBM Plex Sans" pitchFamily="34" charset="0"/>
                <a:ea typeface="IBM Plex Sans" pitchFamily="34" charset="-122"/>
                <a:cs typeface="IBM Plex Sans" pitchFamily="34" charset="-120"/>
              </a:rPr>
              <a:t>Baseline heurístico</a:t>
            </a:r>
            <a:endParaRPr lang="en-US" sz="1400" dirty="0"/>
          </a:p>
        </p:txBody>
      </p:sp>
      <p:sp>
        <p:nvSpPr>
          <p:cNvPr id="9" name="Text 7"/>
          <p:cNvSpPr/>
          <p:nvPr/>
        </p:nvSpPr>
        <p:spPr>
          <a:xfrm>
            <a:off x="6044009" y="2849860"/>
            <a:ext cx="79494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−40,550</a:t>
            </a:r>
            <a:endParaRPr lang="en-US" sz="1400" dirty="0"/>
          </a:p>
        </p:txBody>
      </p:sp>
      <p:sp>
        <p:nvSpPr>
          <p:cNvPr id="10" name="Shape 8"/>
          <p:cNvSpPr/>
          <p:nvPr/>
        </p:nvSpPr>
        <p:spPr>
          <a:xfrm>
            <a:off x="6838950" y="2796480"/>
            <a:ext cx="806450" cy="355600"/>
          </a:xfrm>
          <a:prstGeom prst="roundRect">
            <a:avLst>
              <a:gd name="adj" fmla="val 7143"/>
            </a:avLst>
          </a:prstGeom>
          <a:solidFill>
            <a:srgbClr val="F0A070"/>
          </a:solidFill>
          <a:ln/>
        </p:spPr>
      </p:sp>
      <p:sp>
        <p:nvSpPr>
          <p:cNvPr id="11" name="Shape 9"/>
          <p:cNvSpPr/>
          <p:nvPr/>
        </p:nvSpPr>
        <p:spPr>
          <a:xfrm>
            <a:off x="7747000" y="2720280"/>
            <a:ext cx="12700" cy="508000"/>
          </a:xfrm>
          <a:prstGeom prst="rect">
            <a:avLst/>
          </a:prstGeom>
          <a:solidFill>
            <a:srgbClr val="C9D6E2"/>
          </a:solidFill>
          <a:ln/>
        </p:spPr>
      </p:sp>
      <p:sp>
        <p:nvSpPr>
          <p:cNvPr id="12" name="Text 10"/>
          <p:cNvSpPr/>
          <p:nvPr/>
        </p:nvSpPr>
        <p:spPr>
          <a:xfrm>
            <a:off x="812800" y="3535660"/>
            <a:ext cx="28778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0"/>
                </a:solidFill>
                <a:latin typeface="IBM Plex Sans" pitchFamily="34" charset="0"/>
                <a:ea typeface="IBM Plex Sans" pitchFamily="34" charset="-122"/>
                <a:cs typeface="IBM Plex Sans" pitchFamily="34" charset="-120"/>
              </a:rPr>
              <a:t>Random Forest seleccionado</a:t>
            </a:r>
            <a:endParaRPr lang="en-US" sz="1400" dirty="0"/>
          </a:p>
        </p:txBody>
      </p:sp>
      <p:sp>
        <p:nvSpPr>
          <p:cNvPr id="13" name="Shape 11"/>
          <p:cNvSpPr/>
          <p:nvPr/>
        </p:nvSpPr>
        <p:spPr>
          <a:xfrm>
            <a:off x="3708400" y="3406080"/>
            <a:ext cx="12700" cy="508000"/>
          </a:xfrm>
          <a:prstGeom prst="rect">
            <a:avLst/>
          </a:prstGeom>
          <a:solidFill>
            <a:srgbClr val="C9D6E2"/>
          </a:solidFill>
          <a:ln/>
        </p:spPr>
      </p:sp>
      <p:sp>
        <p:nvSpPr>
          <p:cNvPr id="14" name="Shape 12"/>
          <p:cNvSpPr/>
          <p:nvPr/>
        </p:nvSpPr>
        <p:spPr>
          <a:xfrm>
            <a:off x="3822700" y="3482280"/>
            <a:ext cx="406400" cy="355600"/>
          </a:xfrm>
          <a:prstGeom prst="roundRect">
            <a:avLst>
              <a:gd name="adj" fmla="val 7143"/>
            </a:avLst>
          </a:prstGeom>
          <a:solidFill>
            <a:srgbClr val="8FC1F0"/>
          </a:solidFill>
          <a:ln/>
        </p:spPr>
      </p:sp>
      <p:sp>
        <p:nvSpPr>
          <p:cNvPr id="15" name="Text 13"/>
          <p:cNvSpPr/>
          <p:nvPr/>
        </p:nvSpPr>
        <p:spPr>
          <a:xfrm>
            <a:off x="4330700" y="3535660"/>
            <a:ext cx="8320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+20,500</a:t>
            </a:r>
            <a:endParaRPr lang="en-US" sz="1400" dirty="0"/>
          </a:p>
        </p:txBody>
      </p:sp>
      <p:sp>
        <p:nvSpPr>
          <p:cNvPr id="16" name="Text 14"/>
          <p:cNvSpPr/>
          <p:nvPr/>
        </p:nvSpPr>
        <p:spPr>
          <a:xfrm>
            <a:off x="812800" y="4168080"/>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9D6E2"/>
                </a:solidFill>
                <a:latin typeface="IBM Plex Sans" pitchFamily="34" charset="0"/>
                <a:ea typeface="IBM Plex Sans" pitchFamily="34" charset="-122"/>
                <a:cs typeface="IBM Plex Sans" pitchFamily="34" charset="-120"/>
              </a:rPr>
              <a:t>Supuestos del grupo, no datos de la empresa:</a:t>
            </a:r>
            <a:r>
              <a:rPr lang="en-US" sz="1400" dirty="0">
                <a:solidFill>
                  <a:srgbClr val="C9D6E2"/>
                </a:solidFill>
                <a:latin typeface="IBM Plex Sans" pitchFamily="34" charset="0"/>
                <a:ea typeface="IBM Plex Sans" pitchFamily="34" charset="-122"/>
                <a:cs typeface="IBM Plex Sans" pitchFamily="34" charset="-120"/>
              </a:rPr>
              <a:t> fuga no detectada −$500 · incentivo a quien no se iba −$50 · cliente en riesgo retenido +$350 · cliente no contactado $0. Requieren análisis de sensibilidad en el TF1.</a:t>
            </a:r>
            <a:endParaRPr lang="en-US" sz="1400" dirty="0"/>
          </a:p>
        </p:txBody>
      </p:sp>
      <p:sp>
        <p:nvSpPr>
          <p:cNvPr id="17" name="Text 15"/>
          <p:cNvSpPr/>
          <p:nvPr/>
        </p:nvSpPr>
        <p:spPr>
          <a:xfrm>
            <a:off x="812800" y="6238280"/>
            <a:ext cx="45496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6E2"/>
                </a:solidFill>
                <a:latin typeface="IBM Plex Sans" pitchFamily="34" charset="0"/>
                <a:ea typeface="IBM Plex Sans" pitchFamily="34" charset="-122"/>
                <a:cs typeface="IBM Plex Sans" pitchFamily="34" charset="-120"/>
              </a:rPr>
              <a:t>Simulación; no representa ganancias reales observadas</a:t>
            </a:r>
            <a:endParaRPr lang="en-US" sz="1200" dirty="0"/>
          </a:p>
        </p:txBody>
      </p:sp>
      <p:sp>
        <p:nvSpPr>
          <p:cNvPr id="18" name="Text 16"/>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6E2"/>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263A"/>
                </a:solidFill>
                <a:latin typeface="Domine" pitchFamily="18" charset="0"/>
                <a:ea typeface="Domine" pitchFamily="18" charset="-122"/>
                <a:cs typeface="Domine" pitchFamily="18" charset="-120"/>
              </a:rPr>
              <a:t>Limitaciones del TP1 y plan hacia el TF1</a:t>
            </a:r>
            <a:endParaRPr lang="en-US" sz="3200" dirty="0"/>
          </a:p>
        </p:txBody>
      </p:sp>
      <p:sp>
        <p:nvSpPr>
          <p:cNvPr id="3" name="Text 1"/>
          <p:cNvSpPr/>
          <p:nvPr/>
        </p:nvSpPr>
        <p:spPr>
          <a:xfrm>
            <a:off x="812800" y="1513780"/>
            <a:ext cx="52324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C2541B"/>
                </a:solidFill>
                <a:latin typeface="IBM Plex Sans" pitchFamily="34" charset="0"/>
                <a:ea typeface="IBM Plex Sans" pitchFamily="34" charset="-122"/>
                <a:cs typeface="IBM Plex Sans" pitchFamily="34" charset="-120"/>
              </a:rPr>
              <a:t>Lo que todavía no está resuelto</a:t>
            </a:r>
            <a:endParaRPr lang="en-US" sz="1500" dirty="0"/>
          </a:p>
        </p:txBody>
      </p:sp>
      <p:sp>
        <p:nvSpPr>
          <p:cNvPr id="4" name="Text 2"/>
          <p:cNvSpPr/>
          <p:nvPr/>
        </p:nvSpPr>
        <p:spPr>
          <a:xfrm>
            <a:off x="891032" y="1888430"/>
            <a:ext cx="5146548" cy="1518444"/>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3D4C5C"/>
                </a:solidFill>
                <a:latin typeface="IBM Plex Sans" pitchFamily="34" charset="0"/>
                <a:ea typeface="IBM Plex Sans" pitchFamily="34" charset="-122"/>
                <a:cs typeface="IBM Plex Sans" pitchFamily="34" charset="-120"/>
              </a:rPr>
              <a:t>El recall no alcanza la meta en Test.</a:t>
            </a:r>
            <a:endParaRPr lang="en-US" sz="1400" dirty="0"/>
          </a:p>
          <a:p>
            <a:pPr algn="l" marL="175768" indent="-175768">
              <a:lnSpc>
                <a:spcPts val="1960"/>
              </a:lnSpc>
              <a:buSzPct val="100000"/>
              <a:buChar char="•"/>
            </a:pPr>
            <a:r>
              <a:rPr lang="en-US" sz="1400" dirty="0">
                <a:solidFill>
                  <a:srgbClr val="3D4C5C"/>
                </a:solidFill>
                <a:latin typeface="IBM Plex Sans" pitchFamily="34" charset="0"/>
                <a:ea typeface="IBM Plex Sans" pitchFamily="34" charset="-122"/>
                <a:cs typeface="IBM Plex Sans" pitchFamily="34" charset="-120"/>
              </a:rPr>
              <a:t>La ventaja entre modelos es mínima y sin validación cruzada no sabemos si es estable.</a:t>
            </a:r>
            <a:endParaRPr lang="en-US" sz="1400" dirty="0"/>
          </a:p>
          <a:p>
            <a:pPr algn="l" marL="175768" indent="-175768">
              <a:lnSpc>
                <a:spcPts val="1960"/>
              </a:lnSpc>
              <a:buSzPct val="100000"/>
              <a:buChar char="•"/>
            </a:pPr>
            <a:r>
              <a:rPr lang="en-US" sz="1400" dirty="0">
                <a:solidFill>
                  <a:srgbClr val="3D4C5C"/>
                </a:solidFill>
                <a:latin typeface="IBM Plex Sans" pitchFamily="34" charset="0"/>
                <a:ea typeface="IBM Plex Sans" pitchFamily="34" charset="-122"/>
                <a:cs typeface="IBM Plex Sans" pitchFamily="34" charset="-120"/>
              </a:rPr>
              <a:t>Umbral de decisión fijo en 0.50.</a:t>
            </a:r>
            <a:endParaRPr lang="en-US" sz="1400" dirty="0"/>
          </a:p>
          <a:p>
            <a:pPr algn="l" marL="175768" indent="-175768">
              <a:lnSpc>
                <a:spcPts val="1960"/>
              </a:lnSpc>
              <a:buSzPct val="100000"/>
              <a:buChar char="•"/>
            </a:pPr>
            <a:r>
              <a:rPr lang="en-US" sz="1400" dirty="0">
                <a:solidFill>
                  <a:srgbClr val="3D4C5C"/>
                </a:solidFill>
                <a:latin typeface="IBM Plex Sans" pitchFamily="34" charset="0"/>
                <a:ea typeface="IBM Plex Sans" pitchFamily="34" charset="-122"/>
                <a:cs typeface="IBM Plex Sans" pitchFamily="34" charset="-120"/>
              </a:rPr>
              <a:t>Hiperparámetros sin búsqueda sistemática.</a:t>
            </a:r>
            <a:endParaRPr lang="en-US" sz="1400" dirty="0"/>
          </a:p>
          <a:p>
            <a:pPr algn="l" marL="175768" indent="-175768">
              <a:lnSpc>
                <a:spcPts val="1960"/>
              </a:lnSpc>
              <a:buSzPct val="100000"/>
              <a:buChar char="•"/>
            </a:pPr>
            <a:r>
              <a:rPr lang="en-US" sz="1400" dirty="0">
                <a:solidFill>
                  <a:srgbClr val="3D4C5C"/>
                </a:solidFill>
                <a:latin typeface="IBM Plex Sans" pitchFamily="34" charset="0"/>
                <a:ea typeface="IBM Plex Sans" pitchFamily="34" charset="-122"/>
                <a:cs typeface="IBM Plex Sans" pitchFamily="34" charset="-120"/>
              </a:rPr>
              <a:t>Costos económicos supuestos por el grupo.</a:t>
            </a:r>
            <a:endParaRPr lang="en-US" sz="1400" dirty="0"/>
          </a:p>
        </p:txBody>
      </p:sp>
      <p:sp>
        <p:nvSpPr>
          <p:cNvPr id="5" name="Text 3"/>
          <p:cNvSpPr/>
          <p:nvPr/>
        </p:nvSpPr>
        <p:spPr>
          <a:xfrm>
            <a:off x="6299200" y="1513780"/>
            <a:ext cx="523240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2B5C8F"/>
                </a:solidFill>
                <a:latin typeface="IBM Plex Sans" pitchFamily="34" charset="0"/>
                <a:ea typeface="IBM Plex Sans" pitchFamily="34" charset="-122"/>
                <a:cs typeface="IBM Plex Sans" pitchFamily="34" charset="-120"/>
              </a:rPr>
              <a:t>Hoja de ruta</a:t>
            </a:r>
            <a:endParaRPr lang="en-US" sz="1500" dirty="0"/>
          </a:p>
        </p:txBody>
      </p:sp>
      <p:sp>
        <p:nvSpPr>
          <p:cNvPr id="6" name="Text 4"/>
          <p:cNvSpPr/>
          <p:nvPr/>
        </p:nvSpPr>
        <p:spPr>
          <a:xfrm>
            <a:off x="6356052" y="1888430"/>
            <a:ext cx="5167928" cy="1518444"/>
          </a:xfrm>
          <a:prstGeom prst="rect">
            <a:avLst/>
          </a:prstGeom>
          <a:noFill/>
          <a:ln/>
        </p:spPr>
        <p:txBody>
          <a:bodyPr wrap="square" lIns="0" tIns="0" rIns="0" bIns="0" rtlCol="0" anchor="t">
            <a:normAutofit/>
          </a:bodyPr>
          <a:lstStyle/>
          <a:p>
            <a:pPr algn="l" marL="197148" indent="-197148">
              <a:lnSpc>
                <a:spcPts val="1960"/>
              </a:lnSpc>
              <a:buSzPct val="100000"/>
              <a:buFontTx/>
              <a:buAutoNum type="arabicPeriod" startAt="1"/>
            </a:pPr>
            <a:r>
              <a:rPr lang="en-US" sz="1400" dirty="0">
                <a:solidFill>
                  <a:srgbClr val="3D4C5C"/>
                </a:solidFill>
                <a:latin typeface="IBM Plex Sans" pitchFamily="34" charset="0"/>
                <a:ea typeface="IBM Plex Sans" pitchFamily="34" charset="-122"/>
                <a:cs typeface="IBM Plex Sans" pitchFamily="34" charset="-120"/>
              </a:rPr>
              <a:t>Validación cruzada estratificada, con promedio y dispersión.</a:t>
            </a:r>
            <a:endParaRPr lang="en-US" sz="1400" dirty="0"/>
          </a:p>
          <a:p>
            <a:pPr algn="l" marL="197148" indent="-197148">
              <a:lnSpc>
                <a:spcPts val="1960"/>
              </a:lnSpc>
              <a:buSzPct val="100000"/>
              <a:buFontTx/>
              <a:buAutoNum type="arabicPeriod" startAt="1"/>
            </a:pPr>
            <a:r>
              <a:rPr lang="en-US" sz="1400" dirty="0">
                <a:solidFill>
                  <a:srgbClr val="3D4C5C"/>
                </a:solidFill>
                <a:latin typeface="IBM Plex Sans" pitchFamily="34" charset="0"/>
                <a:ea typeface="IBM Plex Sans" pitchFamily="34" charset="-122"/>
                <a:cs typeface="IBM Plex Sans" pitchFamily="34" charset="-120"/>
              </a:rPr>
              <a:t>Búsqueda sistemática de hiperparámetros.</a:t>
            </a:r>
            <a:endParaRPr lang="en-US" sz="1400" dirty="0"/>
          </a:p>
          <a:p>
            <a:pPr algn="l" marL="197148" indent="-197148">
              <a:lnSpc>
                <a:spcPts val="1960"/>
              </a:lnSpc>
              <a:buSzPct val="100000"/>
              <a:buFontTx/>
              <a:buAutoNum type="arabicPeriod" startAt="1"/>
            </a:pPr>
            <a:r>
              <a:rPr lang="en-US" sz="1400" dirty="0">
                <a:solidFill>
                  <a:srgbClr val="3D4C5C"/>
                </a:solidFill>
                <a:latin typeface="IBM Plex Sans" pitchFamily="34" charset="0"/>
                <a:ea typeface="IBM Plex Sans" pitchFamily="34" charset="-122"/>
                <a:cs typeface="IBM Plex Sans" pitchFamily="34" charset="-120"/>
              </a:rPr>
              <a:t>Ajuste del umbral y análisis de falsos positivos y negativos.</a:t>
            </a:r>
            <a:endParaRPr lang="en-US" sz="1400" dirty="0"/>
          </a:p>
          <a:p>
            <a:pPr algn="l" marL="197148" indent="-197148">
              <a:lnSpc>
                <a:spcPts val="1960"/>
              </a:lnSpc>
              <a:buSzPct val="100000"/>
              <a:buFontTx/>
              <a:buAutoNum type="arabicPeriod" startAt="1"/>
            </a:pPr>
            <a:r>
              <a:rPr lang="en-US" sz="1400" dirty="0">
                <a:solidFill>
                  <a:srgbClr val="3D4C5C"/>
                </a:solidFill>
                <a:latin typeface="IBM Plex Sans" pitchFamily="34" charset="0"/>
                <a:ea typeface="IBM Plex Sans" pitchFamily="34" charset="-122"/>
                <a:cs typeface="IBM Plex Sans" pitchFamily="34" charset="-120"/>
              </a:rPr>
              <a:t>Interpretabilidad global y local.</a:t>
            </a:r>
            <a:endParaRPr lang="en-US" sz="1400" dirty="0"/>
          </a:p>
          <a:p>
            <a:pPr algn="l" marL="197148" indent="-197148">
              <a:lnSpc>
                <a:spcPts val="1960"/>
              </a:lnSpc>
              <a:buSzPct val="100000"/>
              <a:buFontTx/>
              <a:buAutoNum type="arabicPeriod" startAt="1"/>
            </a:pPr>
            <a:r>
              <a:rPr lang="en-US" sz="1400" dirty="0">
                <a:solidFill>
                  <a:srgbClr val="3D4C5C"/>
                </a:solidFill>
                <a:latin typeface="IBM Plex Sans" pitchFamily="34" charset="0"/>
                <a:ea typeface="IBM Plex Sans" pitchFamily="34" charset="-122"/>
                <a:cs typeface="IBM Plex Sans" pitchFamily="34" charset="-120"/>
              </a:rPr>
              <a:t>Técnica adicional solo si es pertinente para los datos.</a:t>
            </a:r>
            <a:endParaRPr lang="en-US" sz="1400" dirty="0"/>
          </a:p>
          <a:p>
            <a:pPr algn="l" marL="197148" indent="-197148">
              <a:lnSpc>
                <a:spcPts val="1960"/>
              </a:lnSpc>
              <a:buSzPct val="100000"/>
              <a:buFontTx/>
              <a:buAutoNum type="arabicPeriod" startAt="1"/>
            </a:pPr>
            <a:r>
              <a:rPr lang="en-US" sz="1400" dirty="0">
                <a:solidFill>
                  <a:srgbClr val="3D4C5C"/>
                </a:solidFill>
                <a:latin typeface="IBM Plex Sans" pitchFamily="34" charset="0"/>
                <a:ea typeface="IBM Plex Sans" pitchFamily="34" charset="-122"/>
                <a:cs typeface="IBM Plex Sans" pitchFamily="34" charset="-120"/>
              </a:rPr>
              <a:t>Despliegue funcional en Streamlit.</a:t>
            </a:r>
            <a:endParaRPr lang="en-US" sz="1400" dirty="0"/>
          </a:p>
        </p:txBody>
      </p:sp>
      <p:sp>
        <p:nvSpPr>
          <p:cNvPr id="7" name="Text 5"/>
          <p:cNvSpPr/>
          <p:nvPr/>
        </p:nvSpPr>
        <p:spPr>
          <a:xfrm>
            <a:off x="812800" y="6238280"/>
            <a:ext cx="55452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Repositorio: github.com/joako-baneado/customer-churn-prediction</a:t>
            </a:r>
            <a:endParaRPr lang="en-US" sz="1200" dirty="0"/>
          </a:p>
        </p:txBody>
      </p:sp>
      <p:sp>
        <p:nvSpPr>
          <p:cNvPr id="8" name="Text 6"/>
          <p:cNvSpPr/>
          <p:nvPr/>
        </p:nvSpPr>
        <p:spPr>
          <a:xfrm>
            <a:off x="11145441" y="62382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5"/>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theme/theme1.xml><?xml version="1.0" encoding="utf-8"?>
<a:theme xmlns:a="http://schemas.openxmlformats.org/drawingml/2006/main" name="TP1 Predicción de fuga de clientes">
  <a:themeElements>
    <a:clrScheme name="TP1 Predicción de fuga de clientes">
      <a:dk1>
        <a:srgbClr val="3D4C5C"/>
      </a:dk1>
      <a:lt1>
        <a:srgbClr val="F7F5F0"/>
      </a:lt1>
      <a:dk2>
        <a:srgbClr val="6C7681"/>
      </a:dk2>
      <a:lt2>
        <a:srgbClr val="E4E4E1"/>
      </a:lt2>
      <a:accent1>
        <a:srgbClr val="12263A"/>
      </a:accent1>
      <a:accent2>
        <a:srgbClr val="2B5C8F"/>
      </a:accent2>
      <a:accent3>
        <a:srgbClr val="C2541B"/>
      </a:accent3>
      <a:accent4>
        <a:srgbClr val="F0A070"/>
      </a:accent4>
      <a:accent5>
        <a:srgbClr val="8FC1F0"/>
      </a:accent5>
      <a:accent6>
        <a:srgbClr val="5B6875"/>
      </a:accent6>
      <a:hlink>
        <a:srgbClr val="0563C1"/>
      </a:hlink>
      <a:folHlink>
        <a:srgbClr val="954F72"/>
      </a:folHlink>
    </a:clrScheme>
    <a:fontScheme name="TP1 Predicción de fuga de cliente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TP1 Predicción de fuga de clientes</dc:title>
  <dc:subject/>
  <dc:creator/>
  <cp:lastModifiedBy/>
  <cp:revision>1</cp:revision>
  <dcterms:created xsi:type="dcterms:W3CDTF">2026-10-06T03:38:16Z</dcterms:created>
  <dcterms:modified xsi:type="dcterms:W3CDTF">2026-10-06T03:38:16Z</dcterms:modified>
</cp:coreProperties>
</file>